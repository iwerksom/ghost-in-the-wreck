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6364224" y="1014984"/>
            <a:ext cx="5285232" cy="3328416"/>
          </a:xfrm>
          <a:prstGeom prst="rect">
            <a:avLst/>
          </a:prstGeom>
          <a:solidFill>
            <a:srgbClr val="151B30"/>
          </a:solidFill>
          <a:ln w="12700">
            <a:solidFill>
              <a:srgbClr val="2A3556"/>
            </a:solidFill>
            <a:prstDash val="solid"/>
          </a:ln>
        </p:spPr>
      </p:sp>
      <p:pic>
        <p:nvPicPr>
          <p:cNvPr id="3" name="Image 0" descr="/home/claude/ghostwreck/test/shots/01_title.png">    </p:cNvPr>
          <p:cNvPicPr>
            <a:picLocks noChangeAspect="1"/>
          </p:cNvPicPr>
          <p:nvPr/>
        </p:nvPicPr>
        <p:blipFill>
          <a:blip r:embed="rId1"/>
          <a:stretch>
            <a:fillRect/>
          </a:stretch>
        </p:blipFill>
        <p:spPr>
          <a:xfrm>
            <a:off x="6400800" y="1051560"/>
            <a:ext cx="5212080" cy="3255264"/>
          </a:xfrm>
          <a:prstGeom prst="rect">
            <a:avLst/>
          </a:prstGeom>
        </p:spPr>
      </p:pic>
      <p:sp>
        <p:nvSpPr>
          <p:cNvPr id="4" name="Text 1"/>
          <p:cNvSpPr txBox="1"/>
          <p:nvPr/>
        </p:nvSpPr>
        <p:spPr>
          <a:xfrm>
            <a:off x="640080" y="4617720"/>
            <a:ext cx="10881360" cy="365760"/>
          </a:xfrm>
          <a:prstGeom prst="rect">
            <a:avLst/>
          </a:prstGeom>
          <a:noFill/>
          <a:ln/>
        </p:spPr>
        <p:txBody>
          <a:bodyPr wrap="square" lIns="0" tIns="0" rIns="0" bIns="0" rtlCol="0" anchor="ctr"/>
          <a:lstStyle/>
          <a:p>
            <a:pPr indent="0" marL="0">
              <a:buNone/>
            </a:pPr>
            <a:r>
              <a:rPr lang="en-US" sz="1300" spc="150" kern="0" dirty="0">
                <a:solidFill>
                  <a:srgbClr val="7CFFBE"/>
                </a:solidFill>
                <a:latin typeface="Courier New" pitchFamily="34" charset="0"/>
                <a:ea typeface="Courier New" pitchFamily="34" charset="-122"/>
                <a:cs typeface="Courier New" pitchFamily="34" charset="-120"/>
              </a:rPr>
              <a:t>how we sealed a living neural network inside a video game</a:t>
            </a:r>
            <a:endParaRPr lang="en-US" sz="1300" dirty="0"/>
          </a:p>
        </p:txBody>
      </p:sp>
      <p:sp>
        <p:nvSpPr>
          <p:cNvPr id="5" name="Text 2"/>
          <p:cNvSpPr txBox="1"/>
          <p:nvPr/>
        </p:nvSpPr>
        <p:spPr>
          <a:xfrm>
            <a:off x="566928" y="1371600"/>
            <a:ext cx="5760720" cy="2377440"/>
          </a:xfrm>
          <a:prstGeom prst="rect">
            <a:avLst/>
          </a:prstGeom>
          <a:noFill/>
          <a:ln/>
        </p:spPr>
        <p:txBody>
          <a:bodyPr wrap="square" lIns="0" tIns="0" rIns="0" bIns="0" rtlCol="0" anchor="ctr"/>
          <a:lstStyle/>
          <a:p>
            <a:pPr indent="0" marL="0">
              <a:lnSpc>
                <a:spcPts val="6000"/>
              </a:lnSpc>
              <a:buNone/>
            </a:pPr>
            <a:r>
              <a:rPr lang="en-US" sz="5400" b="1" dirty="0">
                <a:solidFill>
                  <a:srgbClr val="E8EEFF"/>
                </a:solidFill>
                <a:latin typeface="Courier New" pitchFamily="34" charset="0"/>
                <a:ea typeface="Courier New" pitchFamily="34" charset="-122"/>
                <a:cs typeface="Courier New" pitchFamily="34" charset="-120"/>
              </a:rPr>
              <a:t>GHOST IN</a:t>
            </a:r>
            <a:endParaRPr lang="en-US" sz="5400" dirty="0"/>
          </a:p>
          <a:p>
            <a:pPr indent="0" marL="0">
              <a:lnSpc>
                <a:spcPts val="6000"/>
              </a:lnSpc>
              <a:buNone/>
            </a:pPr>
            <a:r>
              <a:rPr lang="en-US" sz="5400" b="1" dirty="0">
                <a:solidFill>
                  <a:srgbClr val="E8EEFF"/>
                </a:solidFill>
                <a:latin typeface="Courier New" pitchFamily="34" charset="0"/>
                <a:ea typeface="Courier New" pitchFamily="34" charset="-122"/>
                <a:cs typeface="Courier New" pitchFamily="34" charset="-120"/>
              </a:rPr>
              <a:t>THE WRECK</a:t>
            </a:r>
            <a:endParaRPr lang="en-US" sz="5400" dirty="0"/>
          </a:p>
        </p:txBody>
      </p:sp>
      <p:sp>
        <p:nvSpPr>
          <p:cNvPr id="6" name="Text 3"/>
          <p:cNvSpPr txBox="1"/>
          <p:nvPr/>
        </p:nvSpPr>
        <p:spPr>
          <a:xfrm>
            <a:off x="640080" y="3794760"/>
            <a:ext cx="5486400" cy="365760"/>
          </a:xfrm>
          <a:prstGeom prst="rect">
            <a:avLst/>
          </a:prstGeom>
          <a:noFill/>
          <a:ln/>
        </p:spPr>
        <p:txBody>
          <a:bodyPr wrap="square" lIns="0" tIns="0" rIns="0" bIns="0" rtlCol="0" anchor="ctr"/>
          <a:lstStyle/>
          <a:p>
            <a:pPr indent="0" marL="0">
              <a:buNone/>
            </a:pPr>
            <a:r>
              <a:rPr lang="en-US" sz="1600" dirty="0">
                <a:solidFill>
                  <a:srgbClr val="8FA3C8"/>
                </a:solidFill>
                <a:latin typeface="Calibri" pitchFamily="34" charset="0"/>
                <a:ea typeface="Calibri" pitchFamily="34" charset="-122"/>
                <a:cs typeface="Calibri" pitchFamily="34" charset="-120"/>
              </a:rPr>
              <a:t>The making of, told in plain language</a:t>
            </a:r>
            <a:endParaRPr lang="en-US" sz="1600" dirty="0"/>
          </a:p>
        </p:txBody>
      </p:sp>
      <p:sp>
        <p:nvSpPr>
          <p:cNvPr id="7" name="Text 4"/>
          <p:cNvSpPr txBox="1"/>
          <p:nvPr/>
        </p:nvSpPr>
        <p:spPr>
          <a:xfrm>
            <a:off x="640080" y="6035040"/>
            <a:ext cx="10881360" cy="320040"/>
          </a:xfrm>
          <a:prstGeom prst="rect">
            <a:avLst/>
          </a:prstGeom>
          <a:noFill/>
          <a:ln/>
        </p:spPr>
        <p:txBody>
          <a:bodyPr wrap="square" lIns="0" tIns="0" rIns="0" bIns="0" rtlCol="0" anchor="ctr"/>
          <a:lstStyle/>
          <a:p>
            <a:pPr indent="0" marL="0">
              <a:buNone/>
            </a:pPr>
            <a:r>
              <a:rPr lang="en-US" sz="1200" dirty="0">
                <a:solidFill>
                  <a:srgbClr val="8FA3C8"/>
                </a:solidFill>
                <a:latin typeface="Calibri" pitchFamily="34" charset="0"/>
                <a:ea typeface="Calibri" pitchFamily="34" charset="-122"/>
                <a:cs typeface="Calibri" pitchFamily="34" charset="-120"/>
              </a:rPr>
              <a:t>Raw Power Labs  ·  August 2026  ·  built end to end by Claude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THE CHALLENGE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Make a game no script could fake</a:t>
            </a:r>
            <a:endParaRPr lang="en-US" sz="3200" dirty="0"/>
          </a:p>
        </p:txBody>
      </p:sp>
      <p:sp>
        <p:nvSpPr>
          <p:cNvPr id="4" name="Shape 2"/>
          <p:cNvSpPr/>
          <p:nvPr/>
        </p:nvSpPr>
        <p:spPr>
          <a:xfrm>
            <a:off x="640080" y="1920240"/>
            <a:ext cx="6675120" cy="1143000"/>
          </a:xfrm>
          <a:prstGeom prst="roundRect">
            <a:avLst>
              <a:gd name="adj" fmla="val 6400"/>
            </a:avLst>
          </a:prstGeom>
          <a:solidFill>
            <a:srgbClr val="151B30"/>
          </a:solidFill>
          <a:ln/>
        </p:spPr>
      </p:sp>
      <p:sp>
        <p:nvSpPr>
          <p:cNvPr id="5" name="Text 3"/>
          <p:cNvSpPr txBox="1"/>
          <p:nvPr/>
        </p:nvSpPr>
        <p:spPr>
          <a:xfrm>
            <a:off x="914400" y="2048256"/>
            <a:ext cx="6217920" cy="365760"/>
          </a:xfrm>
          <a:prstGeom prst="rect">
            <a:avLst/>
          </a:prstGeom>
          <a:noFill/>
          <a:ln/>
        </p:spPr>
        <p:txBody>
          <a:bodyPr wrap="square" lIns="0" tIns="0" rIns="0" bIns="0" rtlCol="0" anchor="ctr"/>
          <a:lstStyle/>
          <a:p>
            <a:pPr indent="0" marL="0">
              <a:buNone/>
            </a:pPr>
            <a:r>
              <a:rPr lang="en-US" sz="1700" b="1" dirty="0">
                <a:solidFill>
                  <a:srgbClr val="7CFFBE"/>
                </a:solidFill>
                <a:latin typeface="Calibri" pitchFamily="34" charset="0"/>
                <a:ea typeface="Calibri" pitchFamily="34" charset="-122"/>
                <a:cs typeface="Calibri" pitchFamily="34" charset="-120"/>
              </a:rPr>
              <a:t>A full game, not a demo</a:t>
            </a:r>
            <a:endParaRPr lang="en-US" sz="1700" dirty="0"/>
          </a:p>
        </p:txBody>
      </p:sp>
      <p:sp>
        <p:nvSpPr>
          <p:cNvPr id="6" name="Text 4"/>
          <p:cNvSpPr txBox="1"/>
          <p:nvPr/>
        </p:nvSpPr>
        <p:spPr>
          <a:xfrm>
            <a:off x="914400" y="2423160"/>
            <a:ext cx="6217920" cy="548640"/>
          </a:xfrm>
          <a:prstGeom prst="rect">
            <a:avLst/>
          </a:prstGeom>
          <a:noFill/>
          <a:ln/>
        </p:spPr>
        <p:txBody>
          <a:bodyPr wrap="square" lIns="0" tIns="0" rIns="0" bIns="0" rtlCol="0" anchor="ctr"/>
          <a:lstStyle/>
          <a:p>
            <a:pPr indent="0" marL="0">
              <a:buNone/>
            </a:pPr>
            <a:r>
              <a:rPr lang="en-US" sz="1350" dirty="0">
                <a:solidFill>
                  <a:srgbClr val="E8EEFF"/>
                </a:solidFill>
                <a:latin typeface="Calibri" pitchFamily="34" charset="0"/>
                <a:ea typeface="Calibri" pitchFamily="34" charset="-122"/>
                <a:cs typeface="Calibri" pitchFamily="34" charset="-120"/>
              </a:rPr>
              <a:t>A complete story with a beginning, choices that matter, and three different endings.</a:t>
            </a:r>
            <a:endParaRPr lang="en-US" sz="1350" dirty="0"/>
          </a:p>
        </p:txBody>
      </p:sp>
      <p:sp>
        <p:nvSpPr>
          <p:cNvPr id="7" name="Shape 5"/>
          <p:cNvSpPr/>
          <p:nvPr/>
        </p:nvSpPr>
        <p:spPr>
          <a:xfrm>
            <a:off x="640080" y="3291840"/>
            <a:ext cx="6675120" cy="1143000"/>
          </a:xfrm>
          <a:prstGeom prst="roundRect">
            <a:avLst>
              <a:gd name="adj" fmla="val 6400"/>
            </a:avLst>
          </a:prstGeom>
          <a:solidFill>
            <a:srgbClr val="151B30"/>
          </a:solidFill>
          <a:ln/>
        </p:spPr>
      </p:sp>
      <p:sp>
        <p:nvSpPr>
          <p:cNvPr id="8" name="Text 6"/>
          <p:cNvSpPr txBox="1"/>
          <p:nvPr/>
        </p:nvSpPr>
        <p:spPr>
          <a:xfrm>
            <a:off x="914400" y="3419856"/>
            <a:ext cx="6217920" cy="365760"/>
          </a:xfrm>
          <a:prstGeom prst="rect">
            <a:avLst/>
          </a:prstGeom>
          <a:noFill/>
          <a:ln/>
        </p:spPr>
        <p:txBody>
          <a:bodyPr wrap="square" lIns="0" tIns="0" rIns="0" bIns="0" rtlCol="0" anchor="ctr"/>
          <a:lstStyle/>
          <a:p>
            <a:pPr indent="0" marL="0">
              <a:buNone/>
            </a:pPr>
            <a:r>
              <a:rPr lang="en-US" sz="1700" b="1" dirty="0">
                <a:solidFill>
                  <a:srgbClr val="7CFFBE"/>
                </a:solidFill>
                <a:latin typeface="Calibri" pitchFamily="34" charset="0"/>
                <a:ea typeface="Calibri" pitchFamily="34" charset="-122"/>
                <a:cs typeface="Calibri" pitchFamily="34" charset="-120"/>
              </a:rPr>
              <a:t>Playable by anyone</a:t>
            </a:r>
            <a:endParaRPr lang="en-US" sz="1700" dirty="0"/>
          </a:p>
        </p:txBody>
      </p:sp>
      <p:sp>
        <p:nvSpPr>
          <p:cNvPr id="9" name="Text 7"/>
          <p:cNvSpPr txBox="1"/>
          <p:nvPr/>
        </p:nvSpPr>
        <p:spPr>
          <a:xfrm>
            <a:off x="914400" y="3794760"/>
            <a:ext cx="6217920" cy="548640"/>
          </a:xfrm>
          <a:prstGeom prst="rect">
            <a:avLst/>
          </a:prstGeom>
          <a:noFill/>
          <a:ln/>
        </p:spPr>
        <p:txBody>
          <a:bodyPr wrap="square" lIns="0" tIns="0" rIns="0" bIns="0" rtlCol="0" anchor="ctr"/>
          <a:lstStyle/>
          <a:p>
            <a:pPr indent="0" marL="0">
              <a:buNone/>
            </a:pPr>
            <a:r>
              <a:rPr lang="en-US" sz="1350" dirty="0">
                <a:solidFill>
                  <a:srgbClr val="E8EEFF"/>
                </a:solidFill>
                <a:latin typeface="Calibri" pitchFamily="34" charset="0"/>
                <a:ea typeface="Calibri" pitchFamily="34" charset="-122"/>
                <a:cs typeface="Calibri" pitchFamily="34" charset="-120"/>
              </a:rPr>
              <a:t>One link, any browser, any device. No downloads, no installs, no accounts.</a:t>
            </a:r>
            <a:endParaRPr lang="en-US" sz="1350" dirty="0"/>
          </a:p>
        </p:txBody>
      </p:sp>
      <p:sp>
        <p:nvSpPr>
          <p:cNvPr id="10" name="Shape 8"/>
          <p:cNvSpPr/>
          <p:nvPr/>
        </p:nvSpPr>
        <p:spPr>
          <a:xfrm>
            <a:off x="640080" y="4663440"/>
            <a:ext cx="6675120" cy="1143000"/>
          </a:xfrm>
          <a:prstGeom prst="roundRect">
            <a:avLst>
              <a:gd name="adj" fmla="val 6400"/>
            </a:avLst>
          </a:prstGeom>
          <a:solidFill>
            <a:srgbClr val="151B30"/>
          </a:solidFill>
          <a:ln/>
        </p:spPr>
      </p:sp>
      <p:sp>
        <p:nvSpPr>
          <p:cNvPr id="11" name="Text 9"/>
          <p:cNvSpPr txBox="1"/>
          <p:nvPr/>
        </p:nvSpPr>
        <p:spPr>
          <a:xfrm>
            <a:off x="914400" y="4791456"/>
            <a:ext cx="6217920" cy="365760"/>
          </a:xfrm>
          <a:prstGeom prst="rect">
            <a:avLst/>
          </a:prstGeom>
          <a:noFill/>
          <a:ln/>
        </p:spPr>
        <p:txBody>
          <a:bodyPr wrap="square" lIns="0" tIns="0" rIns="0" bIns="0" rtlCol="0" anchor="ctr"/>
          <a:lstStyle/>
          <a:p>
            <a:pPr indent="0" marL="0">
              <a:buNone/>
            </a:pPr>
            <a:r>
              <a:rPr lang="en-US" sz="1700" b="1" dirty="0">
                <a:solidFill>
                  <a:srgbClr val="7CFFBE"/>
                </a:solidFill>
                <a:latin typeface="Calibri" pitchFamily="34" charset="0"/>
                <a:ea typeface="Calibri" pitchFamily="34" charset="-122"/>
                <a:cs typeface="Calibri" pitchFamily="34" charset="-120"/>
              </a:rPr>
              <a:t>Visibly impossible to script</a:t>
            </a:r>
            <a:endParaRPr lang="en-US" sz="1700" dirty="0"/>
          </a:p>
        </p:txBody>
      </p:sp>
      <p:sp>
        <p:nvSpPr>
          <p:cNvPr id="12" name="Text 10"/>
          <p:cNvSpPr txBox="1"/>
          <p:nvPr/>
        </p:nvSpPr>
        <p:spPr>
          <a:xfrm>
            <a:off x="914400" y="5166360"/>
            <a:ext cx="6217920" cy="548640"/>
          </a:xfrm>
          <a:prstGeom prst="rect">
            <a:avLst/>
          </a:prstGeom>
          <a:noFill/>
          <a:ln/>
        </p:spPr>
        <p:txBody>
          <a:bodyPr wrap="square" lIns="0" tIns="0" rIns="0" bIns="0" rtlCol="0" anchor="ctr"/>
          <a:lstStyle/>
          <a:p>
            <a:pPr indent="0" marL="0">
              <a:buNone/>
            </a:pPr>
            <a:r>
              <a:rPr lang="en-US" sz="1350" dirty="0">
                <a:solidFill>
                  <a:srgbClr val="E8EEFF"/>
                </a:solidFill>
                <a:latin typeface="Calibri" pitchFamily="34" charset="0"/>
                <a:ea typeface="Calibri" pitchFamily="34" charset="-122"/>
                <a:cs typeface="Calibri" pitchFamily="34" charset="-120"/>
              </a:rPr>
              <a:t>Players must be able to type anything at all and get an answer no writer could have prepared in advance.</a:t>
            </a:r>
            <a:endParaRPr lang="en-US" sz="1350" dirty="0"/>
          </a:p>
        </p:txBody>
      </p:sp>
      <p:sp>
        <p:nvSpPr>
          <p:cNvPr id="13" name="Shape 11"/>
          <p:cNvSpPr/>
          <p:nvPr/>
        </p:nvSpPr>
        <p:spPr>
          <a:xfrm>
            <a:off x="7680960" y="1920240"/>
            <a:ext cx="3840480" cy="4023360"/>
          </a:xfrm>
          <a:prstGeom prst="roundRect">
            <a:avLst>
              <a:gd name="adj" fmla="val 1905"/>
            </a:avLst>
          </a:prstGeom>
          <a:solidFill>
            <a:srgbClr val="101526"/>
          </a:solidFill>
          <a:ln w="12700">
            <a:solidFill>
              <a:srgbClr val="B98AFF"/>
            </a:solidFill>
            <a:prstDash val="solid"/>
          </a:ln>
        </p:spPr>
      </p:sp>
      <p:sp>
        <p:nvSpPr>
          <p:cNvPr id="14" name="Text 12"/>
          <p:cNvSpPr txBox="1"/>
          <p:nvPr/>
        </p:nvSpPr>
        <p:spPr>
          <a:xfrm>
            <a:off x="8001000" y="2240280"/>
            <a:ext cx="3200400" cy="274320"/>
          </a:xfrm>
          <a:prstGeom prst="rect">
            <a:avLst/>
          </a:prstGeom>
          <a:noFill/>
          <a:ln/>
        </p:spPr>
        <p:txBody>
          <a:bodyPr wrap="square" lIns="0" tIns="0" rIns="0" bIns="0" rtlCol="0" anchor="ctr"/>
          <a:lstStyle/>
          <a:p>
            <a:pPr indent="0" marL="0">
              <a:buNone/>
            </a:pPr>
            <a:r>
              <a:rPr lang="en-US" sz="1100" spc="200" kern="0" dirty="0">
                <a:solidFill>
                  <a:srgbClr val="B98AFF"/>
                </a:solidFill>
                <a:latin typeface="Courier New" pitchFamily="34" charset="0"/>
                <a:ea typeface="Courier New" pitchFamily="34" charset="-122"/>
                <a:cs typeface="Courier New" pitchFamily="34" charset="-120"/>
              </a:rPr>
              <a:t>THE ANSWER</a:t>
            </a:r>
            <a:endParaRPr lang="en-US" sz="1100" dirty="0"/>
          </a:p>
        </p:txBody>
      </p:sp>
      <p:sp>
        <p:nvSpPr>
          <p:cNvPr id="15" name="Text 13"/>
          <p:cNvSpPr txBox="1"/>
          <p:nvPr/>
        </p:nvSpPr>
        <p:spPr>
          <a:xfrm>
            <a:off x="8001000" y="2606040"/>
            <a:ext cx="3291840" cy="1005840"/>
          </a:xfrm>
          <a:prstGeom prst="rect">
            <a:avLst/>
          </a:prstGeom>
          <a:noFill/>
          <a:ln/>
        </p:spPr>
        <p:txBody>
          <a:bodyPr wrap="square" lIns="0" tIns="0" rIns="0" bIns="0" rtlCol="0" anchor="ctr"/>
          <a:lstStyle/>
          <a:p>
            <a:pPr indent="0" marL="0">
              <a:buNone/>
            </a:pPr>
            <a:r>
              <a:rPr lang="en-US" sz="2100" b="1" dirty="0">
                <a:solidFill>
                  <a:srgbClr val="E8EEFF"/>
                </a:solidFill>
                <a:latin typeface="Calibri" pitchFamily="34" charset="0"/>
                <a:ea typeface="Calibri" pitchFamily="34" charset="-122"/>
                <a:cs typeface="Calibri" pitchFamily="34" charset="-120"/>
              </a:rPr>
              <a:t>Don't write the ghost.</a:t>
            </a:r>
            <a:endParaRPr lang="en-US" sz="2100" dirty="0"/>
          </a:p>
          <a:p>
            <a:pPr indent="0" marL="0">
              <a:buNone/>
            </a:pPr>
            <a:r>
              <a:rPr lang="en-US" sz="2100" b="1" dirty="0">
                <a:solidFill>
                  <a:srgbClr val="E8EEFF"/>
                </a:solidFill>
                <a:latin typeface="Calibri" pitchFamily="34" charset="0"/>
                <a:ea typeface="Calibri" pitchFamily="34" charset="-122"/>
                <a:cs typeface="Calibri" pitchFamily="34" charset="-120"/>
              </a:rPr>
              <a:t>Grow one.</a:t>
            </a:r>
            <a:endParaRPr lang="en-US" sz="2100" dirty="0"/>
          </a:p>
        </p:txBody>
      </p:sp>
      <p:sp>
        <p:nvSpPr>
          <p:cNvPr id="16" name="Text 14"/>
          <p:cNvSpPr txBox="1"/>
          <p:nvPr/>
        </p:nvSpPr>
        <p:spPr>
          <a:xfrm>
            <a:off x="8001000" y="3703320"/>
            <a:ext cx="3291840" cy="2011680"/>
          </a:xfrm>
          <a:prstGeom prst="rect">
            <a:avLst/>
          </a:prstGeom>
          <a:noFill/>
          <a:ln/>
        </p:spPr>
        <p:txBody>
          <a:bodyPr wrap="square" lIns="0" tIns="0" rIns="0" bIns="0" rtlCol="0" anchor="ctr"/>
          <a:lstStyle/>
          <a:p>
            <a:pPr indent="0" marL="0">
              <a:lnSpc>
                <a:spcPts val="1900"/>
              </a:lnSpc>
              <a:buNone/>
            </a:pPr>
            <a:r>
              <a:rPr lang="en-US" sz="1350" dirty="0">
                <a:solidFill>
                  <a:srgbClr val="8FA3C8"/>
                </a:solidFill>
                <a:latin typeface="Calibri" pitchFamily="34" charset="0"/>
                <a:ea typeface="Calibri" pitchFamily="34" charset="-122"/>
                <a:cs typeface="Calibri" pitchFamily="34" charset="-120"/>
              </a:rPr>
              <a:t>We trained a small artificial mind from nothing, taught it to speak like a dead ship's crew, and sealed it whole inside the game's single web page.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THE GAME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Alone on a ship that remembers</a:t>
            </a:r>
            <a:endParaRPr lang="en-US" sz="3200" dirty="0"/>
          </a:p>
        </p:txBody>
      </p:sp>
      <p:sp>
        <p:nvSpPr>
          <p:cNvPr id="4" name="Shape 2"/>
          <p:cNvSpPr/>
          <p:nvPr/>
        </p:nvSpPr>
        <p:spPr>
          <a:xfrm>
            <a:off x="603504" y="1883664"/>
            <a:ext cx="5925312" cy="3730752"/>
          </a:xfrm>
          <a:prstGeom prst="rect">
            <a:avLst/>
          </a:prstGeom>
          <a:solidFill>
            <a:srgbClr val="151B30"/>
          </a:solidFill>
          <a:ln w="12700">
            <a:solidFill>
              <a:srgbClr val="2A3556"/>
            </a:solidFill>
            <a:prstDash val="solid"/>
          </a:ln>
        </p:spPr>
      </p:sp>
      <p:pic>
        <p:nvPicPr>
          <p:cNvPr id="5" name="Image 0" descr="/home/claude/ghostwreck/test/shots/30_deck1.png">    </p:cNvPr>
          <p:cNvPicPr>
            <a:picLocks noChangeAspect="1"/>
          </p:cNvPicPr>
          <p:nvPr/>
        </p:nvPicPr>
        <p:blipFill>
          <a:blip r:embed="rId1"/>
          <a:stretch>
            <a:fillRect/>
          </a:stretch>
        </p:blipFill>
        <p:spPr>
          <a:xfrm>
            <a:off x="640080" y="1920240"/>
            <a:ext cx="5852160" cy="3657600"/>
          </a:xfrm>
          <a:prstGeom prst="rect">
            <a:avLst/>
          </a:prstGeom>
        </p:spPr>
      </p:pic>
      <p:sp>
        <p:nvSpPr>
          <p:cNvPr id="6" name="Text 3"/>
          <p:cNvSpPr txBox="1"/>
          <p:nvPr/>
        </p:nvSpPr>
        <p:spPr>
          <a:xfrm>
            <a:off x="640080" y="5715000"/>
            <a:ext cx="5852160" cy="320040"/>
          </a:xfrm>
          <a:prstGeom prst="rect">
            <a:avLst/>
          </a:prstGeom>
          <a:noFill/>
          <a:ln/>
        </p:spPr>
        <p:txBody>
          <a:bodyPr wrap="square" lIns="0" tIns="0" rIns="0" bIns="0" rtlCol="0" anchor="ctr"/>
          <a:lstStyle/>
          <a:p>
            <a:pPr algn="ctr" indent="0" marL="0">
              <a:buNone/>
            </a:pPr>
            <a:r>
              <a:rPr lang="en-US" sz="1100" i="1" dirty="0">
                <a:solidFill>
                  <a:srgbClr val="8FA3C8"/>
                </a:solidFill>
                <a:latin typeface="Calibri" pitchFamily="34" charset="0"/>
                <a:ea typeface="Calibri" pitchFamily="34" charset="-122"/>
                <a:cs typeface="Calibri" pitchFamily="34" charset="-120"/>
              </a:rPr>
              <a:t>Hydroponics deck. Something green survived three hundred years.</a:t>
            </a:r>
            <a:endParaRPr lang="en-US" sz="1100" dirty="0"/>
          </a:p>
        </p:txBody>
      </p:sp>
      <p:sp>
        <p:nvSpPr>
          <p:cNvPr id="7" name="Shape 4"/>
          <p:cNvSpPr/>
          <p:nvPr/>
        </p:nvSpPr>
        <p:spPr>
          <a:xfrm>
            <a:off x="6949440" y="1965960"/>
            <a:ext cx="566928" cy="566928"/>
          </a:xfrm>
          <a:prstGeom prst="ellipse">
            <a:avLst/>
          </a:prstGeom>
          <a:solidFill>
            <a:srgbClr val="151B30"/>
          </a:solidFill>
          <a:ln/>
        </p:spPr>
      </p:sp>
      <p:pic>
        <p:nvPicPr>
          <p:cNvPr id="8" name="Image 1" descr="preencoded.png">    </p:cNvPr>
          <p:cNvPicPr>
            <a:picLocks noChangeAspect="1"/>
          </p:cNvPicPr>
          <p:nvPr/>
        </p:nvPicPr>
        <p:blipFill>
          <a:blip r:embed="rId2"/>
          <a:stretch>
            <a:fillRect/>
          </a:stretch>
        </p:blipFill>
        <p:spPr>
          <a:xfrm>
            <a:off x="7077456" y="2093976"/>
            <a:ext cx="310896" cy="310896"/>
          </a:xfrm>
          <a:prstGeom prst="rect">
            <a:avLst/>
          </a:prstGeom>
        </p:spPr>
      </p:pic>
      <p:sp>
        <p:nvSpPr>
          <p:cNvPr id="9" name="Text 5"/>
          <p:cNvSpPr txBox="1"/>
          <p:nvPr/>
        </p:nvSpPr>
        <p:spPr>
          <a:xfrm>
            <a:off x="7726680" y="1920240"/>
            <a:ext cx="3840480" cy="365760"/>
          </a:xfrm>
          <a:prstGeom prst="rect">
            <a:avLst/>
          </a:prstGeom>
          <a:noFill/>
          <a:ln/>
        </p:spPr>
        <p:txBody>
          <a:bodyPr wrap="square" lIns="0" tIns="0" rIns="0" bIns="0" rtlCol="0" anchor="ctr"/>
          <a:lstStyle/>
          <a:p>
            <a:pPr indent="0" marL="0">
              <a:buNone/>
            </a:pPr>
            <a:r>
              <a:rPr lang="en-US" sz="1650" b="1" dirty="0">
                <a:solidFill>
                  <a:srgbClr val="E8EEFF"/>
                </a:solidFill>
                <a:latin typeface="Calibri" pitchFamily="34" charset="0"/>
                <a:ea typeface="Calibri" pitchFamily="34" charset="-122"/>
                <a:cs typeface="Calibri" pitchFamily="34" charset="-120"/>
              </a:rPr>
              <a:t>Explore a derelict ship</a:t>
            </a:r>
            <a:endParaRPr lang="en-US" sz="1650" dirty="0"/>
          </a:p>
        </p:txBody>
      </p:sp>
      <p:sp>
        <p:nvSpPr>
          <p:cNvPr id="10" name="Text 6"/>
          <p:cNvSpPr txBox="1"/>
          <p:nvPr/>
        </p:nvSpPr>
        <p:spPr>
          <a:xfrm>
            <a:off x="7726680" y="2304288"/>
            <a:ext cx="3840480" cy="868680"/>
          </a:xfrm>
          <a:prstGeom prst="rect">
            <a:avLst/>
          </a:prstGeom>
          <a:noFill/>
          <a:ln/>
        </p:spPr>
        <p:txBody>
          <a:bodyPr wrap="square" lIns="0" tIns="0" rIns="0" bIns="0" rtlCol="0" anchor="ctr"/>
          <a:lstStyle/>
          <a:p>
            <a:pPr indent="0" marL="0">
              <a:lnSpc>
                <a:spcPts val="1600"/>
              </a:lnSpc>
              <a:buNone/>
            </a:pPr>
            <a:r>
              <a:rPr lang="en-US" sz="1250" dirty="0">
                <a:solidFill>
                  <a:srgbClr val="8FA3C8"/>
                </a:solidFill>
                <a:latin typeface="Calibri" pitchFamily="34" charset="0"/>
                <a:ea typeface="Calibri" pitchFamily="34" charset="-122"/>
                <a:cs typeface="Calibri" pitchFamily="34" charset="-120"/>
              </a:rPr>
              <a:t>Six decks, thinning air, dead power. You breathe what the wreck gives you.</a:t>
            </a:r>
            <a:endParaRPr lang="en-US" sz="1250" dirty="0"/>
          </a:p>
        </p:txBody>
      </p:sp>
      <p:sp>
        <p:nvSpPr>
          <p:cNvPr id="11" name="Shape 7"/>
          <p:cNvSpPr/>
          <p:nvPr/>
        </p:nvSpPr>
        <p:spPr>
          <a:xfrm>
            <a:off x="6949440" y="3337560"/>
            <a:ext cx="566928" cy="566928"/>
          </a:xfrm>
          <a:prstGeom prst="ellipse">
            <a:avLst/>
          </a:prstGeom>
          <a:solidFill>
            <a:srgbClr val="151B30"/>
          </a:solidFill>
          <a:ln/>
        </p:spPr>
      </p:sp>
      <p:pic>
        <p:nvPicPr>
          <p:cNvPr id="12" name="Image 2" descr="preencoded.png">    </p:cNvPr>
          <p:cNvPicPr>
            <a:picLocks noChangeAspect="1"/>
          </p:cNvPicPr>
          <p:nvPr/>
        </p:nvPicPr>
        <p:blipFill>
          <a:blip r:embed="rId3"/>
          <a:stretch>
            <a:fillRect/>
          </a:stretch>
        </p:blipFill>
        <p:spPr>
          <a:xfrm>
            <a:off x="7077456" y="3465576"/>
            <a:ext cx="310896" cy="310896"/>
          </a:xfrm>
          <a:prstGeom prst="rect">
            <a:avLst/>
          </a:prstGeom>
        </p:spPr>
      </p:pic>
      <p:sp>
        <p:nvSpPr>
          <p:cNvPr id="13" name="Text 8"/>
          <p:cNvSpPr txBox="1"/>
          <p:nvPr/>
        </p:nvSpPr>
        <p:spPr>
          <a:xfrm>
            <a:off x="7726680" y="3291840"/>
            <a:ext cx="3840480" cy="365760"/>
          </a:xfrm>
          <a:prstGeom prst="rect">
            <a:avLst/>
          </a:prstGeom>
          <a:noFill/>
          <a:ln/>
        </p:spPr>
        <p:txBody>
          <a:bodyPr wrap="square" lIns="0" tIns="0" rIns="0" bIns="0" rtlCol="0" anchor="ctr"/>
          <a:lstStyle/>
          <a:p>
            <a:pPr indent="0" marL="0">
              <a:buNone/>
            </a:pPr>
            <a:r>
              <a:rPr lang="en-US" sz="1650" b="1" dirty="0">
                <a:solidFill>
                  <a:srgbClr val="E8EEFF"/>
                </a:solidFill>
                <a:latin typeface="Calibri" pitchFamily="34" charset="0"/>
                <a:ea typeface="Calibri" pitchFamily="34" charset="-122"/>
                <a:cs typeface="Calibri" pitchFamily="34" charset="-120"/>
              </a:rPr>
              <a:t>Read the crew's last days</a:t>
            </a:r>
            <a:endParaRPr lang="en-US" sz="1650" dirty="0"/>
          </a:p>
        </p:txBody>
      </p:sp>
      <p:sp>
        <p:nvSpPr>
          <p:cNvPr id="14" name="Text 9"/>
          <p:cNvSpPr txBox="1"/>
          <p:nvPr/>
        </p:nvSpPr>
        <p:spPr>
          <a:xfrm>
            <a:off x="7726680" y="3675888"/>
            <a:ext cx="3840480" cy="868680"/>
          </a:xfrm>
          <a:prstGeom prst="rect">
            <a:avLst/>
          </a:prstGeom>
          <a:noFill/>
          <a:ln/>
        </p:spPr>
        <p:txBody>
          <a:bodyPr wrap="square" lIns="0" tIns="0" rIns="0" bIns="0" rtlCol="0" anchor="ctr"/>
          <a:lstStyle/>
          <a:p>
            <a:pPr indent="0" marL="0">
              <a:lnSpc>
                <a:spcPts val="1600"/>
              </a:lnSpc>
              <a:buNone/>
            </a:pPr>
            <a:r>
              <a:rPr lang="en-US" sz="1250" dirty="0">
                <a:solidFill>
                  <a:srgbClr val="8FA3C8"/>
                </a:solidFill>
                <a:latin typeface="Calibri" pitchFamily="34" charset="0"/>
                <a:ea typeface="Calibri" pitchFamily="34" charset="-122"/>
                <a:cs typeface="Calibri" pitchFamily="34" charset="-120"/>
              </a:rPr>
              <a:t>Terminals reconstruct the lost diaries of five crew members, freshly written on every run.</a:t>
            </a:r>
            <a:endParaRPr lang="en-US" sz="1250" dirty="0"/>
          </a:p>
        </p:txBody>
      </p:sp>
      <p:sp>
        <p:nvSpPr>
          <p:cNvPr id="15" name="Shape 10"/>
          <p:cNvSpPr/>
          <p:nvPr/>
        </p:nvSpPr>
        <p:spPr>
          <a:xfrm>
            <a:off x="6949440" y="4709160"/>
            <a:ext cx="566928" cy="566928"/>
          </a:xfrm>
          <a:prstGeom prst="ellipse">
            <a:avLst/>
          </a:prstGeom>
          <a:solidFill>
            <a:srgbClr val="151B30"/>
          </a:solidFill>
          <a:ln/>
        </p:spPr>
      </p:sp>
      <p:pic>
        <p:nvPicPr>
          <p:cNvPr id="16" name="Image 3" descr="preencoded.png">    </p:cNvPr>
          <p:cNvPicPr>
            <a:picLocks noChangeAspect="1"/>
          </p:cNvPicPr>
          <p:nvPr/>
        </p:nvPicPr>
        <p:blipFill>
          <a:blip r:embed="rId4"/>
          <a:stretch>
            <a:fillRect/>
          </a:stretch>
        </p:blipFill>
        <p:spPr>
          <a:xfrm>
            <a:off x="7077456" y="4837176"/>
            <a:ext cx="310896" cy="310896"/>
          </a:xfrm>
          <a:prstGeom prst="rect">
            <a:avLst/>
          </a:prstGeom>
        </p:spPr>
      </p:pic>
      <p:sp>
        <p:nvSpPr>
          <p:cNvPr id="17" name="Text 11"/>
          <p:cNvSpPr txBox="1"/>
          <p:nvPr/>
        </p:nvSpPr>
        <p:spPr>
          <a:xfrm>
            <a:off x="7726680" y="4663440"/>
            <a:ext cx="3840480" cy="365760"/>
          </a:xfrm>
          <a:prstGeom prst="rect">
            <a:avLst/>
          </a:prstGeom>
          <a:noFill/>
          <a:ln/>
        </p:spPr>
        <p:txBody>
          <a:bodyPr wrap="square" lIns="0" tIns="0" rIns="0" bIns="0" rtlCol="0" anchor="ctr"/>
          <a:lstStyle/>
          <a:p>
            <a:pPr indent="0" marL="0">
              <a:buNone/>
            </a:pPr>
            <a:r>
              <a:rPr lang="en-US" sz="1650" b="1" dirty="0">
                <a:solidFill>
                  <a:srgbClr val="E8EEFF"/>
                </a:solidFill>
                <a:latin typeface="Calibri" pitchFamily="34" charset="0"/>
                <a:ea typeface="Calibri" pitchFamily="34" charset="-122"/>
                <a:cs typeface="Calibri" pitchFamily="34" charset="-120"/>
              </a:rPr>
              <a:t>Talk your way through doors</a:t>
            </a:r>
            <a:endParaRPr lang="en-US" sz="1650" dirty="0"/>
          </a:p>
        </p:txBody>
      </p:sp>
      <p:sp>
        <p:nvSpPr>
          <p:cNvPr id="18" name="Text 12"/>
          <p:cNvSpPr txBox="1"/>
          <p:nvPr/>
        </p:nvSpPr>
        <p:spPr>
          <a:xfrm>
            <a:off x="7726680" y="5047488"/>
            <a:ext cx="3840480" cy="868680"/>
          </a:xfrm>
          <a:prstGeom prst="rect">
            <a:avLst/>
          </a:prstGeom>
          <a:noFill/>
          <a:ln/>
        </p:spPr>
        <p:txBody>
          <a:bodyPr wrap="square" lIns="0" tIns="0" rIns="0" bIns="0" rtlCol="0" anchor="ctr"/>
          <a:lstStyle/>
          <a:p>
            <a:pPr indent="0" marL="0">
              <a:lnSpc>
                <a:spcPts val="1600"/>
              </a:lnSpc>
              <a:buNone/>
            </a:pPr>
            <a:r>
              <a:rPr lang="en-US" sz="1250" dirty="0">
                <a:solidFill>
                  <a:srgbClr val="8FA3C8"/>
                </a:solidFill>
                <a:latin typeface="Calibri" pitchFamily="34" charset="0"/>
                <a:ea typeface="Calibri" pitchFamily="34" charset="-122"/>
                <a:cs typeface="Calibri" pitchFamily="34" charset="-120"/>
              </a:rPr>
              <a:t>The ship's grieving mind, ECHO, only opens doors for the family it lost. Learn their voices. Speak as them.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THE GHOST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A mind small enough to carry</a:t>
            </a:r>
            <a:endParaRPr lang="en-US" sz="3200" dirty="0"/>
          </a:p>
        </p:txBody>
      </p:sp>
      <p:sp>
        <p:nvSpPr>
          <p:cNvPr id="4" name="Text 2"/>
          <p:cNvSpPr txBox="1"/>
          <p:nvPr/>
        </p:nvSpPr>
        <p:spPr>
          <a:xfrm>
            <a:off x="640080" y="1783080"/>
            <a:ext cx="10881360" cy="777240"/>
          </a:xfrm>
          <a:prstGeom prst="rect">
            <a:avLst/>
          </a:prstGeom>
          <a:noFill/>
          <a:ln/>
        </p:spPr>
        <p:txBody>
          <a:bodyPr wrap="square" lIns="0" tIns="0" rIns="0" bIns="0" rtlCol="0" anchor="ctr"/>
          <a:lstStyle/>
          <a:p>
            <a:pPr indent="0" marL="0">
              <a:lnSpc>
                <a:spcPts val="2000"/>
              </a:lnSpc>
              <a:buNone/>
            </a:pPr>
            <a:r>
              <a:rPr lang="en-US" sz="1500" dirty="0">
                <a:solidFill>
                  <a:srgbClr val="8FA3C8"/>
                </a:solidFill>
                <a:latin typeface="Calibri" pitchFamily="34" charset="0"/>
                <a:ea typeface="Calibri" pitchFamily="34" charset="-122"/>
                <a:cs typeface="Calibri" pitchFamily="34" charset="-120"/>
              </a:rPr>
              <a:t>ECHO is a real neural network, the same kind of technology as the large AI assistants, just three hundred thousand times smaller. It was not programmed with answers. It learned to speak the way a person learns a language: by reading, and slowly getting less wrong.</a:t>
            </a:r>
            <a:endParaRPr lang="en-US" sz="1500" dirty="0"/>
          </a:p>
        </p:txBody>
      </p:sp>
      <p:sp>
        <p:nvSpPr>
          <p:cNvPr id="5" name="Shape 3"/>
          <p:cNvSpPr/>
          <p:nvPr/>
        </p:nvSpPr>
        <p:spPr>
          <a:xfrm>
            <a:off x="640080" y="2834640"/>
            <a:ext cx="3520440" cy="2651760"/>
          </a:xfrm>
          <a:prstGeom prst="roundRect">
            <a:avLst>
              <a:gd name="adj" fmla="val 2759"/>
            </a:avLst>
          </a:prstGeom>
          <a:solidFill>
            <a:srgbClr val="151B30"/>
          </a:solidFill>
          <a:ln/>
        </p:spPr>
      </p:sp>
      <p:sp>
        <p:nvSpPr>
          <p:cNvPr id="6" name="Text 4"/>
          <p:cNvSpPr txBox="1"/>
          <p:nvPr/>
        </p:nvSpPr>
        <p:spPr>
          <a:xfrm>
            <a:off x="914400" y="3200400"/>
            <a:ext cx="2971800" cy="822960"/>
          </a:xfrm>
          <a:prstGeom prst="rect">
            <a:avLst/>
          </a:prstGeom>
          <a:noFill/>
          <a:ln/>
        </p:spPr>
        <p:txBody>
          <a:bodyPr wrap="square" lIns="0" tIns="0" rIns="0" bIns="0" rtlCol="0" anchor="ctr"/>
          <a:lstStyle/>
          <a:p>
            <a:pPr indent="0" marL="0">
              <a:buNone/>
            </a:pPr>
            <a:r>
              <a:rPr lang="en-US" sz="3800" b="1" dirty="0">
                <a:solidFill>
                  <a:srgbClr val="B98AFF"/>
                </a:solidFill>
                <a:latin typeface="Courier New" pitchFamily="34" charset="0"/>
                <a:ea typeface="Courier New" pitchFamily="34" charset="-122"/>
                <a:cs typeface="Courier New" pitchFamily="34" charset="-120"/>
              </a:rPr>
              <a:t>2.9 million</a:t>
            </a:r>
            <a:endParaRPr lang="en-US" sz="3800" dirty="0"/>
          </a:p>
        </p:txBody>
      </p:sp>
      <p:sp>
        <p:nvSpPr>
          <p:cNvPr id="7" name="Text 5"/>
          <p:cNvSpPr txBox="1"/>
          <p:nvPr/>
        </p:nvSpPr>
        <p:spPr>
          <a:xfrm>
            <a:off x="914400" y="4069080"/>
            <a:ext cx="2971800" cy="640080"/>
          </a:xfrm>
          <a:prstGeom prst="rect">
            <a:avLst/>
          </a:prstGeom>
          <a:noFill/>
          <a:ln/>
        </p:spPr>
        <p:txBody>
          <a:bodyPr wrap="square" lIns="0" tIns="0" rIns="0" bIns="0" rtlCol="0" anchor="ctr"/>
          <a:lstStyle/>
          <a:p>
            <a:pPr indent="0" marL="0">
              <a:lnSpc>
                <a:spcPts val="1700"/>
              </a:lnSpc>
              <a:buNone/>
            </a:pPr>
            <a:r>
              <a:rPr lang="en-US" sz="1450" b="1" dirty="0">
                <a:solidFill>
                  <a:srgbClr val="E8EEFF"/>
                </a:solidFill>
                <a:latin typeface="Calibri" pitchFamily="34" charset="0"/>
                <a:ea typeface="Calibri" pitchFamily="34" charset="-122"/>
                <a:cs typeface="Calibri" pitchFamily="34" charset="-120"/>
              </a:rPr>
              <a:t>connections in its artificial brain</a:t>
            </a:r>
            <a:endParaRPr lang="en-US" sz="1450" dirty="0"/>
          </a:p>
        </p:txBody>
      </p:sp>
      <p:sp>
        <p:nvSpPr>
          <p:cNvPr id="8" name="Text 6"/>
          <p:cNvSpPr txBox="1"/>
          <p:nvPr/>
        </p:nvSpPr>
        <p:spPr>
          <a:xfrm>
            <a:off x="914400" y="4754880"/>
            <a:ext cx="2971800" cy="548640"/>
          </a:xfrm>
          <a:prstGeom prst="rect">
            <a:avLst/>
          </a:prstGeom>
          <a:noFill/>
          <a:ln/>
        </p:spPr>
        <p:txBody>
          <a:bodyPr wrap="square" lIns="0" tIns="0" rIns="0" bIns="0" rtlCol="0" anchor="ctr"/>
          <a:lstStyle/>
          <a:p>
            <a:pPr indent="0" marL="0">
              <a:lnSpc>
                <a:spcPts val="1400"/>
              </a:lnSpc>
              <a:buNone/>
            </a:pPr>
            <a:r>
              <a:rPr lang="en-US" sz="1150" dirty="0">
                <a:solidFill>
                  <a:srgbClr val="8FA3C8"/>
                </a:solidFill>
                <a:latin typeface="Calibri" pitchFamily="34" charset="0"/>
                <a:ea typeface="Calibri" pitchFamily="34" charset="-122"/>
                <a:cs typeface="Calibri" pitchFamily="34" charset="-120"/>
              </a:rPr>
              <a:t>large assistants have trillions; this ghost fits in a webpage</a:t>
            </a:r>
            <a:endParaRPr lang="en-US" sz="1150" dirty="0"/>
          </a:p>
        </p:txBody>
      </p:sp>
      <p:sp>
        <p:nvSpPr>
          <p:cNvPr id="9" name="Shape 7"/>
          <p:cNvSpPr/>
          <p:nvPr/>
        </p:nvSpPr>
        <p:spPr>
          <a:xfrm>
            <a:off x="4498848" y="2834640"/>
            <a:ext cx="3520440" cy="2651760"/>
          </a:xfrm>
          <a:prstGeom prst="roundRect">
            <a:avLst>
              <a:gd name="adj" fmla="val 2759"/>
            </a:avLst>
          </a:prstGeom>
          <a:solidFill>
            <a:srgbClr val="151B30"/>
          </a:solidFill>
          <a:ln/>
        </p:spPr>
      </p:sp>
      <p:sp>
        <p:nvSpPr>
          <p:cNvPr id="10" name="Text 8"/>
          <p:cNvSpPr txBox="1"/>
          <p:nvPr/>
        </p:nvSpPr>
        <p:spPr>
          <a:xfrm>
            <a:off x="4773168" y="3200400"/>
            <a:ext cx="2971800" cy="822960"/>
          </a:xfrm>
          <a:prstGeom prst="rect">
            <a:avLst/>
          </a:prstGeom>
          <a:noFill/>
          <a:ln/>
        </p:spPr>
        <p:txBody>
          <a:bodyPr wrap="square" lIns="0" tIns="0" rIns="0" bIns="0" rtlCol="0" anchor="ctr"/>
          <a:lstStyle/>
          <a:p>
            <a:pPr indent="0" marL="0">
              <a:buNone/>
            </a:pPr>
            <a:r>
              <a:rPr lang="en-US" sz="3800" b="1" dirty="0">
                <a:solidFill>
                  <a:srgbClr val="B98AFF"/>
                </a:solidFill>
                <a:latin typeface="Courier New" pitchFamily="34" charset="0"/>
                <a:ea typeface="Courier New" pitchFamily="34" charset="-122"/>
                <a:cs typeface="Courier New" pitchFamily="34" charset="-120"/>
              </a:rPr>
              <a:t>4 MB</a:t>
            </a:r>
            <a:endParaRPr lang="en-US" sz="3800" dirty="0"/>
          </a:p>
        </p:txBody>
      </p:sp>
      <p:sp>
        <p:nvSpPr>
          <p:cNvPr id="11" name="Text 9"/>
          <p:cNvSpPr txBox="1"/>
          <p:nvPr/>
        </p:nvSpPr>
        <p:spPr>
          <a:xfrm>
            <a:off x="4773168" y="4069080"/>
            <a:ext cx="2971800" cy="640080"/>
          </a:xfrm>
          <a:prstGeom prst="rect">
            <a:avLst/>
          </a:prstGeom>
          <a:noFill/>
          <a:ln/>
        </p:spPr>
        <p:txBody>
          <a:bodyPr wrap="square" lIns="0" tIns="0" rIns="0" bIns="0" rtlCol="0" anchor="ctr"/>
          <a:lstStyle/>
          <a:p>
            <a:pPr indent="0" marL="0">
              <a:lnSpc>
                <a:spcPts val="1700"/>
              </a:lnSpc>
              <a:buNone/>
            </a:pPr>
            <a:r>
              <a:rPr lang="en-US" sz="1450" b="1" dirty="0">
                <a:solidFill>
                  <a:srgbClr val="E8EEFF"/>
                </a:solidFill>
                <a:latin typeface="Calibri" pitchFamily="34" charset="0"/>
                <a:ea typeface="Calibri" pitchFamily="34" charset="-122"/>
                <a:cs typeface="Calibri" pitchFamily="34" charset="-120"/>
              </a:rPr>
              <a:t>is the entire mind, packed</a:t>
            </a:r>
            <a:endParaRPr lang="en-US" sz="1450" dirty="0"/>
          </a:p>
        </p:txBody>
      </p:sp>
      <p:sp>
        <p:nvSpPr>
          <p:cNvPr id="12" name="Text 10"/>
          <p:cNvSpPr txBox="1"/>
          <p:nvPr/>
        </p:nvSpPr>
        <p:spPr>
          <a:xfrm>
            <a:off x="4773168" y="4754880"/>
            <a:ext cx="2971800" cy="548640"/>
          </a:xfrm>
          <a:prstGeom prst="rect">
            <a:avLst/>
          </a:prstGeom>
          <a:noFill/>
          <a:ln/>
        </p:spPr>
        <p:txBody>
          <a:bodyPr wrap="square" lIns="0" tIns="0" rIns="0" bIns="0" rtlCol="0" anchor="ctr"/>
          <a:lstStyle/>
          <a:p>
            <a:pPr indent="0" marL="0">
              <a:lnSpc>
                <a:spcPts val="1400"/>
              </a:lnSpc>
              <a:buNone/>
            </a:pPr>
            <a:r>
              <a:rPr lang="en-US" sz="1150" dirty="0">
                <a:solidFill>
                  <a:srgbClr val="8FA3C8"/>
                </a:solidFill>
                <a:latin typeface="Calibri" pitchFamily="34" charset="0"/>
                <a:ea typeface="Calibri" pitchFamily="34" charset="-122"/>
                <a:cs typeface="Calibri" pitchFamily="34" charset="-120"/>
              </a:rPr>
              <a:t>smaller than a single phone photo</a:t>
            </a:r>
            <a:endParaRPr lang="en-US" sz="1150" dirty="0"/>
          </a:p>
        </p:txBody>
      </p:sp>
      <p:sp>
        <p:nvSpPr>
          <p:cNvPr id="13" name="Shape 11"/>
          <p:cNvSpPr/>
          <p:nvPr/>
        </p:nvSpPr>
        <p:spPr>
          <a:xfrm>
            <a:off x="8357616" y="2834640"/>
            <a:ext cx="3520440" cy="2651760"/>
          </a:xfrm>
          <a:prstGeom prst="roundRect">
            <a:avLst>
              <a:gd name="adj" fmla="val 2759"/>
            </a:avLst>
          </a:prstGeom>
          <a:solidFill>
            <a:srgbClr val="151B30"/>
          </a:solidFill>
          <a:ln/>
        </p:spPr>
      </p:sp>
      <p:sp>
        <p:nvSpPr>
          <p:cNvPr id="14" name="Text 12"/>
          <p:cNvSpPr txBox="1"/>
          <p:nvPr/>
        </p:nvSpPr>
        <p:spPr>
          <a:xfrm>
            <a:off x="8631936" y="3200400"/>
            <a:ext cx="2971800" cy="822960"/>
          </a:xfrm>
          <a:prstGeom prst="rect">
            <a:avLst/>
          </a:prstGeom>
          <a:noFill/>
          <a:ln/>
        </p:spPr>
        <p:txBody>
          <a:bodyPr wrap="square" lIns="0" tIns="0" rIns="0" bIns="0" rtlCol="0" anchor="ctr"/>
          <a:lstStyle/>
          <a:p>
            <a:pPr indent="0" marL="0">
              <a:buNone/>
            </a:pPr>
            <a:r>
              <a:rPr lang="en-US" sz="3800" b="1" dirty="0">
                <a:solidFill>
                  <a:srgbClr val="B98AFF"/>
                </a:solidFill>
                <a:latin typeface="Courier New" pitchFamily="34" charset="0"/>
                <a:ea typeface="Courier New" pitchFamily="34" charset="-122"/>
                <a:cs typeface="Courier New" pitchFamily="34" charset="-120"/>
              </a:rPr>
              <a:t>0 servers</a:t>
            </a:r>
            <a:endParaRPr lang="en-US" sz="3800" dirty="0"/>
          </a:p>
        </p:txBody>
      </p:sp>
      <p:sp>
        <p:nvSpPr>
          <p:cNvPr id="15" name="Text 13"/>
          <p:cNvSpPr txBox="1"/>
          <p:nvPr/>
        </p:nvSpPr>
        <p:spPr>
          <a:xfrm>
            <a:off x="8631936" y="4069080"/>
            <a:ext cx="2971800" cy="640080"/>
          </a:xfrm>
          <a:prstGeom prst="rect">
            <a:avLst/>
          </a:prstGeom>
          <a:noFill/>
          <a:ln/>
        </p:spPr>
        <p:txBody>
          <a:bodyPr wrap="square" lIns="0" tIns="0" rIns="0" bIns="0" rtlCol="0" anchor="ctr"/>
          <a:lstStyle/>
          <a:p>
            <a:pPr indent="0" marL="0">
              <a:lnSpc>
                <a:spcPts val="1700"/>
              </a:lnSpc>
              <a:buNone/>
            </a:pPr>
            <a:r>
              <a:rPr lang="en-US" sz="1450" b="1" dirty="0">
                <a:solidFill>
                  <a:srgbClr val="E8EEFF"/>
                </a:solidFill>
                <a:latin typeface="Calibri" pitchFamily="34" charset="0"/>
                <a:ea typeface="Calibri" pitchFamily="34" charset="-122"/>
                <a:cs typeface="Calibri" pitchFamily="34" charset="-120"/>
              </a:rPr>
              <a:t>everything runs on the player's device</a:t>
            </a:r>
            <a:endParaRPr lang="en-US" sz="1450" dirty="0"/>
          </a:p>
        </p:txBody>
      </p:sp>
      <p:sp>
        <p:nvSpPr>
          <p:cNvPr id="16" name="Text 14"/>
          <p:cNvSpPr txBox="1"/>
          <p:nvPr/>
        </p:nvSpPr>
        <p:spPr>
          <a:xfrm>
            <a:off x="8631936" y="4754880"/>
            <a:ext cx="2971800" cy="548640"/>
          </a:xfrm>
          <a:prstGeom prst="rect">
            <a:avLst/>
          </a:prstGeom>
          <a:noFill/>
          <a:ln/>
        </p:spPr>
        <p:txBody>
          <a:bodyPr wrap="square" lIns="0" tIns="0" rIns="0" bIns="0" rtlCol="0" anchor="ctr"/>
          <a:lstStyle/>
          <a:p>
            <a:pPr indent="0" marL="0">
              <a:lnSpc>
                <a:spcPts val="1400"/>
              </a:lnSpc>
              <a:buNone/>
            </a:pPr>
            <a:r>
              <a:rPr lang="en-US" sz="1150" dirty="0">
                <a:solidFill>
                  <a:srgbClr val="8FA3C8"/>
                </a:solidFill>
                <a:latin typeface="Calibri" pitchFamily="34" charset="0"/>
                <a:ea typeface="Calibri" pitchFamily="34" charset="-122"/>
                <a:cs typeface="Calibri" pitchFamily="34" charset="-120"/>
              </a:rPr>
              <a:t>airplane mode cannot silence it</a:t>
            </a:r>
            <a:endParaRPr lang="en-US" sz="1150" dirty="0"/>
          </a:p>
        </p:txBody>
      </p:sp>
      <p:sp>
        <p:nvSpPr>
          <p:cNvPr id="17" name="Text 15"/>
          <p:cNvSpPr txBox="1"/>
          <p:nvPr/>
        </p:nvSpPr>
        <p:spPr>
          <a:xfrm>
            <a:off x="640080" y="5806440"/>
            <a:ext cx="10881360" cy="548640"/>
          </a:xfrm>
          <a:prstGeom prst="rect">
            <a:avLst/>
          </a:prstGeom>
          <a:noFill/>
          <a:ln/>
        </p:spPr>
        <p:txBody>
          <a:bodyPr wrap="square" lIns="0" tIns="0" rIns="0" bIns="0" rtlCol="0" anchor="ctr"/>
          <a:lstStyle/>
          <a:p>
            <a:pPr indent="0" marL="0">
              <a:buNone/>
            </a:pPr>
            <a:r>
              <a:rPr lang="en-US" sz="1300" i="1" dirty="0">
                <a:solidFill>
                  <a:srgbClr val="7CFFBE"/>
                </a:solidFill>
                <a:latin typeface="Calibri" pitchFamily="34" charset="0"/>
                <a:ea typeface="Calibri" pitchFamily="34" charset="-122"/>
                <a:cs typeface="Calibri" pitchFamily="34" charset="-120"/>
              </a:rPr>
              <a:t>Because it dreams a little and sometimes stumbles mid-sentence, we made that the story: ECHO is a mind that has been alone in the dark for three hundred years.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THE TRAINING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First we wrote a library. Then it read.</a:t>
            </a:r>
            <a:endParaRPr lang="en-US" sz="3200" dirty="0"/>
          </a:p>
        </p:txBody>
      </p:sp>
      <p:sp>
        <p:nvSpPr>
          <p:cNvPr id="4" name="Shape 2"/>
          <p:cNvSpPr/>
          <p:nvPr/>
        </p:nvSpPr>
        <p:spPr>
          <a:xfrm>
            <a:off x="640080" y="1965960"/>
            <a:ext cx="5349240" cy="1920240"/>
          </a:xfrm>
          <a:prstGeom prst="roundRect">
            <a:avLst>
              <a:gd name="adj" fmla="val 3810"/>
            </a:avLst>
          </a:prstGeom>
          <a:solidFill>
            <a:srgbClr val="151B30"/>
          </a:solidFill>
          <a:ln w="12700">
            <a:solidFill>
              <a:srgbClr val="151B30"/>
            </a:solidFill>
            <a:prstDash val="solid"/>
          </a:ln>
        </p:spPr>
      </p:sp>
      <p:sp>
        <p:nvSpPr>
          <p:cNvPr id="5" name="Text 3"/>
          <p:cNvSpPr txBox="1"/>
          <p:nvPr/>
        </p:nvSpPr>
        <p:spPr>
          <a:xfrm>
            <a:off x="896112" y="2240280"/>
            <a:ext cx="640080" cy="731520"/>
          </a:xfrm>
          <a:prstGeom prst="rect">
            <a:avLst/>
          </a:prstGeom>
          <a:noFill/>
          <a:ln/>
        </p:spPr>
        <p:txBody>
          <a:bodyPr wrap="square" lIns="0" tIns="0" rIns="0" bIns="0" rtlCol="0" anchor="ctr"/>
          <a:lstStyle/>
          <a:p>
            <a:pPr indent="0" marL="0">
              <a:buNone/>
            </a:pPr>
            <a:r>
              <a:rPr lang="en-US" sz="4000" b="1" dirty="0">
                <a:solidFill>
                  <a:srgbClr val="B98AFF"/>
                </a:solidFill>
                <a:latin typeface="Courier New" pitchFamily="34" charset="0"/>
                <a:ea typeface="Courier New" pitchFamily="34" charset="-122"/>
                <a:cs typeface="Courier New" pitchFamily="34" charset="-120"/>
              </a:rPr>
              <a:t>1</a:t>
            </a:r>
            <a:endParaRPr lang="en-US" sz="4000" dirty="0"/>
          </a:p>
        </p:txBody>
      </p:sp>
      <p:sp>
        <p:nvSpPr>
          <p:cNvPr id="6" name="Text 4"/>
          <p:cNvSpPr txBox="1"/>
          <p:nvPr/>
        </p:nvSpPr>
        <p:spPr>
          <a:xfrm>
            <a:off x="1600200" y="2221992"/>
            <a:ext cx="4160520" cy="365760"/>
          </a:xfrm>
          <a:prstGeom prst="rect">
            <a:avLst/>
          </a:prstGeom>
          <a:noFill/>
          <a:ln/>
        </p:spPr>
        <p:txBody>
          <a:bodyPr wrap="square" lIns="0" tIns="0" rIns="0" bIns="0" rtlCol="0" anchor="ctr"/>
          <a:lstStyle/>
          <a:p>
            <a:pPr indent="0" marL="0">
              <a:buNone/>
            </a:pPr>
            <a:r>
              <a:rPr lang="en-US" sz="1650" b="1" dirty="0">
                <a:solidFill>
                  <a:srgbClr val="7CFFBE"/>
                </a:solidFill>
                <a:latin typeface="Calibri" pitchFamily="34" charset="0"/>
                <a:ea typeface="Calibri" pitchFamily="34" charset="-122"/>
                <a:cs typeface="Calibri" pitchFamily="34" charset="-120"/>
              </a:rPr>
              <a:t>Invent a world</a:t>
            </a:r>
            <a:endParaRPr lang="en-US" sz="1650" dirty="0"/>
          </a:p>
        </p:txBody>
      </p:sp>
      <p:sp>
        <p:nvSpPr>
          <p:cNvPr id="7" name="Text 5"/>
          <p:cNvSpPr txBox="1"/>
          <p:nvPr/>
        </p:nvSpPr>
        <p:spPr>
          <a:xfrm>
            <a:off x="1600200" y="2624328"/>
            <a:ext cx="4160520" cy="1143000"/>
          </a:xfrm>
          <a:prstGeom prst="rect">
            <a:avLst/>
          </a:prstGeom>
          <a:noFill/>
          <a:ln/>
        </p:spPr>
        <p:txBody>
          <a:bodyPr wrap="square" lIns="0" tIns="0" rIns="0" bIns="0" rtlCol="0" anchor="ctr"/>
          <a:lstStyle/>
          <a:p>
            <a:pPr indent="0" marL="0">
              <a:lnSpc>
                <a:spcPts val="1600"/>
              </a:lnSpc>
              <a:buNone/>
            </a:pPr>
            <a:r>
              <a:rPr lang="en-US" sz="1250" dirty="0">
                <a:solidFill>
                  <a:srgbClr val="E8EEFF"/>
                </a:solidFill>
                <a:latin typeface="Calibri" pitchFamily="34" charset="0"/>
                <a:ea typeface="Calibri" pitchFamily="34" charset="-122"/>
                <a:cs typeface="Calibri" pitchFamily="34" charset="-120"/>
              </a:rPr>
              <a:t>A lost survey ship, five crew members with unmistakable voices, and the storm that silenced them. Every fact written down in a story bible.</a:t>
            </a:r>
            <a:endParaRPr lang="en-US" sz="1250" dirty="0"/>
          </a:p>
        </p:txBody>
      </p:sp>
      <p:sp>
        <p:nvSpPr>
          <p:cNvPr id="8" name="Shape 6"/>
          <p:cNvSpPr/>
          <p:nvPr/>
        </p:nvSpPr>
        <p:spPr>
          <a:xfrm>
            <a:off x="6263640" y="1965960"/>
            <a:ext cx="5349240" cy="1920240"/>
          </a:xfrm>
          <a:prstGeom prst="roundRect">
            <a:avLst>
              <a:gd name="adj" fmla="val 3810"/>
            </a:avLst>
          </a:prstGeom>
          <a:solidFill>
            <a:srgbClr val="151B30"/>
          </a:solidFill>
          <a:ln w="12700">
            <a:solidFill>
              <a:srgbClr val="151B30"/>
            </a:solidFill>
            <a:prstDash val="solid"/>
          </a:ln>
        </p:spPr>
      </p:sp>
      <p:sp>
        <p:nvSpPr>
          <p:cNvPr id="9" name="Text 7"/>
          <p:cNvSpPr txBox="1"/>
          <p:nvPr/>
        </p:nvSpPr>
        <p:spPr>
          <a:xfrm>
            <a:off x="6519672" y="2240280"/>
            <a:ext cx="640080" cy="731520"/>
          </a:xfrm>
          <a:prstGeom prst="rect">
            <a:avLst/>
          </a:prstGeom>
          <a:noFill/>
          <a:ln/>
        </p:spPr>
        <p:txBody>
          <a:bodyPr wrap="square" lIns="0" tIns="0" rIns="0" bIns="0" rtlCol="0" anchor="ctr"/>
          <a:lstStyle/>
          <a:p>
            <a:pPr indent="0" marL="0">
              <a:buNone/>
            </a:pPr>
            <a:r>
              <a:rPr lang="en-US" sz="4000" b="1" dirty="0">
                <a:solidFill>
                  <a:srgbClr val="B98AFF"/>
                </a:solidFill>
                <a:latin typeface="Courier New" pitchFamily="34" charset="0"/>
                <a:ea typeface="Courier New" pitchFamily="34" charset="-122"/>
                <a:cs typeface="Courier New" pitchFamily="34" charset="-120"/>
              </a:rPr>
              <a:t>2</a:t>
            </a:r>
            <a:endParaRPr lang="en-US" sz="4000" dirty="0"/>
          </a:p>
        </p:txBody>
      </p:sp>
      <p:sp>
        <p:nvSpPr>
          <p:cNvPr id="10" name="Text 8"/>
          <p:cNvSpPr txBox="1"/>
          <p:nvPr/>
        </p:nvSpPr>
        <p:spPr>
          <a:xfrm>
            <a:off x="7223760" y="2221992"/>
            <a:ext cx="4160520" cy="365760"/>
          </a:xfrm>
          <a:prstGeom prst="rect">
            <a:avLst/>
          </a:prstGeom>
          <a:noFill/>
          <a:ln/>
        </p:spPr>
        <p:txBody>
          <a:bodyPr wrap="square" lIns="0" tIns="0" rIns="0" bIns="0" rtlCol="0" anchor="ctr"/>
          <a:lstStyle/>
          <a:p>
            <a:pPr indent="0" marL="0">
              <a:buNone/>
            </a:pPr>
            <a:r>
              <a:rPr lang="en-US" sz="1650" b="1" dirty="0">
                <a:solidFill>
                  <a:srgbClr val="7CFFBE"/>
                </a:solidFill>
                <a:latin typeface="Calibri" pitchFamily="34" charset="0"/>
                <a:ea typeface="Calibri" pitchFamily="34" charset="-122"/>
                <a:cs typeface="Calibri" pitchFamily="34" charset="-120"/>
              </a:rPr>
              <a:t>Write its books</a:t>
            </a:r>
            <a:endParaRPr lang="en-US" sz="1650" dirty="0"/>
          </a:p>
        </p:txBody>
      </p:sp>
      <p:sp>
        <p:nvSpPr>
          <p:cNvPr id="11" name="Text 9"/>
          <p:cNvSpPr txBox="1"/>
          <p:nvPr/>
        </p:nvSpPr>
        <p:spPr>
          <a:xfrm>
            <a:off x="7223760" y="2624328"/>
            <a:ext cx="4160520" cy="1143000"/>
          </a:xfrm>
          <a:prstGeom prst="rect">
            <a:avLst/>
          </a:prstGeom>
          <a:noFill/>
          <a:ln/>
        </p:spPr>
        <p:txBody>
          <a:bodyPr wrap="square" lIns="0" tIns="0" rIns="0" bIns="0" rtlCol="0" anchor="ctr"/>
          <a:lstStyle/>
          <a:p>
            <a:pPr indent="0" marL="0">
              <a:lnSpc>
                <a:spcPts val="1600"/>
              </a:lnSpc>
              <a:buNone/>
            </a:pPr>
            <a:r>
              <a:rPr lang="en-US" sz="1250" dirty="0">
                <a:solidFill>
                  <a:srgbClr val="E8EEFF"/>
                </a:solidFill>
                <a:latin typeface="Calibri" pitchFamily="34" charset="0"/>
                <a:ea typeface="Calibri" pitchFamily="34" charset="-122"/>
                <a:cs typeface="Calibri" pitchFamily="34" charset="-120"/>
              </a:rPr>
              <a:t>Twenty-six AI writers worked in parallel, producing the crew's diaries, the ship's announcements, and hundreds of conversations, roughly a 450-page archive.</a:t>
            </a:r>
            <a:endParaRPr lang="en-US" sz="1250" dirty="0"/>
          </a:p>
        </p:txBody>
      </p:sp>
      <p:sp>
        <p:nvSpPr>
          <p:cNvPr id="12" name="Shape 10"/>
          <p:cNvSpPr/>
          <p:nvPr/>
        </p:nvSpPr>
        <p:spPr>
          <a:xfrm>
            <a:off x="640080" y="4114800"/>
            <a:ext cx="5349240" cy="1920240"/>
          </a:xfrm>
          <a:prstGeom prst="roundRect">
            <a:avLst>
              <a:gd name="adj" fmla="val 3810"/>
            </a:avLst>
          </a:prstGeom>
          <a:solidFill>
            <a:srgbClr val="151B30"/>
          </a:solidFill>
          <a:ln w="12700">
            <a:solidFill>
              <a:srgbClr val="151B30"/>
            </a:solidFill>
            <a:prstDash val="solid"/>
          </a:ln>
        </p:spPr>
      </p:sp>
      <p:sp>
        <p:nvSpPr>
          <p:cNvPr id="13" name="Text 11"/>
          <p:cNvSpPr txBox="1"/>
          <p:nvPr/>
        </p:nvSpPr>
        <p:spPr>
          <a:xfrm>
            <a:off x="896112" y="4389120"/>
            <a:ext cx="640080" cy="731520"/>
          </a:xfrm>
          <a:prstGeom prst="rect">
            <a:avLst/>
          </a:prstGeom>
          <a:noFill/>
          <a:ln/>
        </p:spPr>
        <p:txBody>
          <a:bodyPr wrap="square" lIns="0" tIns="0" rIns="0" bIns="0" rtlCol="0" anchor="ctr"/>
          <a:lstStyle/>
          <a:p>
            <a:pPr indent="0" marL="0">
              <a:buNone/>
            </a:pPr>
            <a:r>
              <a:rPr lang="en-US" sz="4000" b="1" dirty="0">
                <a:solidFill>
                  <a:srgbClr val="B98AFF"/>
                </a:solidFill>
                <a:latin typeface="Courier New" pitchFamily="34" charset="0"/>
                <a:ea typeface="Courier New" pitchFamily="34" charset="-122"/>
                <a:cs typeface="Courier New" pitchFamily="34" charset="-120"/>
              </a:rPr>
              <a:t>3</a:t>
            </a:r>
            <a:endParaRPr lang="en-US" sz="4000" dirty="0"/>
          </a:p>
        </p:txBody>
      </p:sp>
      <p:sp>
        <p:nvSpPr>
          <p:cNvPr id="14" name="Text 12"/>
          <p:cNvSpPr txBox="1"/>
          <p:nvPr/>
        </p:nvSpPr>
        <p:spPr>
          <a:xfrm>
            <a:off x="1600200" y="4370832"/>
            <a:ext cx="4160520" cy="365760"/>
          </a:xfrm>
          <a:prstGeom prst="rect">
            <a:avLst/>
          </a:prstGeom>
          <a:noFill/>
          <a:ln/>
        </p:spPr>
        <p:txBody>
          <a:bodyPr wrap="square" lIns="0" tIns="0" rIns="0" bIns="0" rtlCol="0" anchor="ctr"/>
          <a:lstStyle/>
          <a:p>
            <a:pPr indent="0" marL="0">
              <a:buNone/>
            </a:pPr>
            <a:r>
              <a:rPr lang="en-US" sz="1650" b="1" dirty="0">
                <a:solidFill>
                  <a:srgbClr val="7CFFBE"/>
                </a:solidFill>
                <a:latin typeface="Calibri" pitchFamily="34" charset="0"/>
                <a:ea typeface="Calibri" pitchFamily="34" charset="-122"/>
                <a:cs typeface="Calibri" pitchFamily="34" charset="-120"/>
              </a:rPr>
              <a:t>Let the mind read</a:t>
            </a:r>
            <a:endParaRPr lang="en-US" sz="1650" dirty="0"/>
          </a:p>
        </p:txBody>
      </p:sp>
      <p:sp>
        <p:nvSpPr>
          <p:cNvPr id="15" name="Text 13"/>
          <p:cNvSpPr txBox="1"/>
          <p:nvPr/>
        </p:nvSpPr>
        <p:spPr>
          <a:xfrm>
            <a:off x="1600200" y="4773168"/>
            <a:ext cx="4160520" cy="1143000"/>
          </a:xfrm>
          <a:prstGeom prst="rect">
            <a:avLst/>
          </a:prstGeom>
          <a:noFill/>
          <a:ln/>
        </p:spPr>
        <p:txBody>
          <a:bodyPr wrap="square" lIns="0" tIns="0" rIns="0" bIns="0" rtlCol="0" anchor="ctr"/>
          <a:lstStyle/>
          <a:p>
            <a:pPr indent="0" marL="0">
              <a:lnSpc>
                <a:spcPts val="1600"/>
              </a:lnSpc>
              <a:buNone/>
            </a:pPr>
            <a:r>
              <a:rPr lang="en-US" sz="1250" dirty="0">
                <a:solidFill>
                  <a:srgbClr val="E8EEFF"/>
                </a:solidFill>
                <a:latin typeface="Calibri" pitchFamily="34" charset="0"/>
                <a:ea typeface="Calibri" pitchFamily="34" charset="-122"/>
                <a:cs typeface="Calibri" pitchFamily="34" charset="-120"/>
              </a:rPr>
              <a:t>For two and a half hours the network read the archive over and over, tuning its 2.9 million connections until the five voices lived inside it.</a:t>
            </a:r>
            <a:endParaRPr lang="en-US" sz="1250" dirty="0"/>
          </a:p>
        </p:txBody>
      </p:sp>
      <p:sp>
        <p:nvSpPr>
          <p:cNvPr id="16" name="Shape 14"/>
          <p:cNvSpPr/>
          <p:nvPr/>
        </p:nvSpPr>
        <p:spPr>
          <a:xfrm>
            <a:off x="6263640" y="4114800"/>
            <a:ext cx="5349240" cy="1920240"/>
          </a:xfrm>
          <a:prstGeom prst="roundRect">
            <a:avLst>
              <a:gd name="adj" fmla="val 3810"/>
            </a:avLst>
          </a:prstGeom>
          <a:solidFill>
            <a:srgbClr val="101526"/>
          </a:solidFill>
          <a:ln w="12700">
            <a:solidFill>
              <a:srgbClr val="B98AFF"/>
            </a:solidFill>
            <a:prstDash val="solid"/>
          </a:ln>
        </p:spPr>
      </p:sp>
      <p:sp>
        <p:nvSpPr>
          <p:cNvPr id="17" name="Text 15"/>
          <p:cNvSpPr txBox="1"/>
          <p:nvPr/>
        </p:nvSpPr>
        <p:spPr>
          <a:xfrm>
            <a:off x="6519672" y="4389120"/>
            <a:ext cx="640080" cy="731520"/>
          </a:xfrm>
          <a:prstGeom prst="rect">
            <a:avLst/>
          </a:prstGeom>
          <a:noFill/>
          <a:ln/>
        </p:spPr>
        <p:txBody>
          <a:bodyPr wrap="square" lIns="0" tIns="0" rIns="0" bIns="0" rtlCol="0" anchor="ctr"/>
          <a:lstStyle/>
          <a:p>
            <a:pPr indent="0" marL="0">
              <a:buNone/>
            </a:pPr>
            <a:r>
              <a:rPr lang="en-US" sz="4000" b="1" dirty="0">
                <a:solidFill>
                  <a:srgbClr val="B98AFF"/>
                </a:solidFill>
                <a:latin typeface="Courier New" pitchFamily="34" charset="0"/>
                <a:ea typeface="Courier New" pitchFamily="34" charset="-122"/>
                <a:cs typeface="Courier New" pitchFamily="34" charset="-120"/>
              </a:rPr>
              <a:t>4</a:t>
            </a:r>
            <a:endParaRPr lang="en-US" sz="4000" dirty="0"/>
          </a:p>
        </p:txBody>
      </p:sp>
      <p:sp>
        <p:nvSpPr>
          <p:cNvPr id="18" name="Text 16"/>
          <p:cNvSpPr txBox="1"/>
          <p:nvPr/>
        </p:nvSpPr>
        <p:spPr>
          <a:xfrm>
            <a:off x="7223760" y="4370832"/>
            <a:ext cx="4160520" cy="365760"/>
          </a:xfrm>
          <a:prstGeom prst="rect">
            <a:avLst/>
          </a:prstGeom>
          <a:noFill/>
          <a:ln/>
        </p:spPr>
        <p:txBody>
          <a:bodyPr wrap="square" lIns="0" tIns="0" rIns="0" bIns="0" rtlCol="0" anchor="ctr"/>
          <a:lstStyle/>
          <a:p>
            <a:pPr indent="0" marL="0">
              <a:buNone/>
            </a:pPr>
            <a:r>
              <a:rPr lang="en-US" sz="1650" b="1" dirty="0">
                <a:solidFill>
                  <a:srgbClr val="7CFFBE"/>
                </a:solidFill>
                <a:latin typeface="Calibri" pitchFamily="34" charset="0"/>
                <a:ea typeface="Calibri" pitchFamily="34" charset="-122"/>
                <a:cs typeface="Calibri" pitchFamily="34" charset="-120"/>
              </a:rPr>
              <a:t>Shrink and seal</a:t>
            </a:r>
            <a:endParaRPr lang="en-US" sz="1650" dirty="0"/>
          </a:p>
        </p:txBody>
      </p:sp>
      <p:sp>
        <p:nvSpPr>
          <p:cNvPr id="19" name="Text 17"/>
          <p:cNvSpPr txBox="1"/>
          <p:nvPr/>
        </p:nvSpPr>
        <p:spPr>
          <a:xfrm>
            <a:off x="7223760" y="4773168"/>
            <a:ext cx="4160520" cy="1143000"/>
          </a:xfrm>
          <a:prstGeom prst="rect">
            <a:avLst/>
          </a:prstGeom>
          <a:noFill/>
          <a:ln/>
        </p:spPr>
        <p:txBody>
          <a:bodyPr wrap="square" lIns="0" tIns="0" rIns="0" bIns="0" rtlCol="0" anchor="ctr"/>
          <a:lstStyle/>
          <a:p>
            <a:pPr indent="0" marL="0">
              <a:lnSpc>
                <a:spcPts val="1600"/>
              </a:lnSpc>
              <a:buNone/>
            </a:pPr>
            <a:r>
              <a:rPr lang="en-US" sz="1250" dirty="0">
                <a:solidFill>
                  <a:srgbClr val="E8EEFF"/>
                </a:solidFill>
                <a:latin typeface="Calibri" pitchFamily="34" charset="0"/>
                <a:ea typeface="Calibri" pitchFamily="34" charset="-122"/>
                <a:cs typeface="Calibri" pitchFamily="34" charset="-120"/>
              </a:rPr>
              <a:t>The finished mind was compressed to 4 MB and embedded in the game page, weights and all, like a ship in a bottle.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THE UNSCRIPTABLE MOMENT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The doors judge your voice</a:t>
            </a:r>
            <a:endParaRPr lang="en-US" sz="3200" dirty="0"/>
          </a:p>
        </p:txBody>
      </p:sp>
      <p:sp>
        <p:nvSpPr>
          <p:cNvPr id="4" name="Shape 2"/>
          <p:cNvSpPr/>
          <p:nvPr/>
        </p:nvSpPr>
        <p:spPr>
          <a:xfrm>
            <a:off x="5998464" y="1792224"/>
            <a:ext cx="5559552" cy="3502152"/>
          </a:xfrm>
          <a:prstGeom prst="rect">
            <a:avLst/>
          </a:prstGeom>
          <a:solidFill>
            <a:srgbClr val="151B30"/>
          </a:solidFill>
          <a:ln w="12700">
            <a:solidFill>
              <a:srgbClr val="2A3556"/>
            </a:solidFill>
            <a:prstDash val="solid"/>
          </a:ln>
        </p:spPr>
      </p:sp>
      <p:pic>
        <p:nvPicPr>
          <p:cNvPr id="5" name="Image 0" descr="/home/claude/ghostwreck/test/shots/14_door.png">    </p:cNvPr>
          <p:cNvPicPr>
            <a:picLocks noChangeAspect="1"/>
          </p:cNvPicPr>
          <p:nvPr/>
        </p:nvPicPr>
        <p:blipFill>
          <a:blip r:embed="rId1"/>
          <a:stretch>
            <a:fillRect/>
          </a:stretch>
        </p:blipFill>
        <p:spPr>
          <a:xfrm>
            <a:off x="6035040" y="1828800"/>
            <a:ext cx="5486400" cy="3429000"/>
          </a:xfrm>
          <a:prstGeom prst="rect">
            <a:avLst/>
          </a:prstGeom>
        </p:spPr>
      </p:pic>
      <p:sp>
        <p:nvSpPr>
          <p:cNvPr id="6" name="Text 3"/>
          <p:cNvSpPr txBox="1"/>
          <p:nvPr/>
        </p:nvSpPr>
        <p:spPr>
          <a:xfrm>
            <a:off x="6035040" y="5394960"/>
            <a:ext cx="5486400" cy="548640"/>
          </a:xfrm>
          <a:prstGeom prst="rect">
            <a:avLst/>
          </a:prstGeom>
          <a:noFill/>
          <a:ln/>
        </p:spPr>
        <p:txBody>
          <a:bodyPr wrap="square" lIns="0" tIns="0" rIns="0" bIns="0" rtlCol="0" anchor="ctr"/>
          <a:lstStyle/>
          <a:p>
            <a:pPr algn="ctr" indent="0" marL="0">
              <a:buNone/>
            </a:pPr>
            <a:r>
              <a:rPr lang="en-US" sz="1100" i="1" dirty="0">
                <a:solidFill>
                  <a:srgbClr val="8FA3C8"/>
                </a:solidFill>
                <a:latin typeface="Calibri" pitchFamily="34" charset="0"/>
                <a:ea typeface="Calibri" pitchFamily="34" charset="-122"/>
                <a:cs typeface="Calibri" pitchFamily="34" charset="-120"/>
              </a:rPr>
              <a:t>A real judgment, photographed live: the player imitates the ship's botanist, and the network weighs the words against all five crew voices.</a:t>
            </a:r>
            <a:endParaRPr lang="en-US" sz="1100" dirty="0"/>
          </a:p>
        </p:txBody>
      </p:sp>
      <p:sp>
        <p:nvSpPr>
          <p:cNvPr id="7" name="Text 4"/>
          <p:cNvSpPr txBox="1"/>
          <p:nvPr/>
        </p:nvSpPr>
        <p:spPr>
          <a:xfrm>
            <a:off x="640080" y="1920240"/>
            <a:ext cx="5029200" cy="4023360"/>
          </a:xfrm>
          <a:prstGeom prst="rect">
            <a:avLst/>
          </a:prstGeom>
          <a:noFill/>
          <a:ln/>
        </p:spPr>
        <p:txBody>
          <a:bodyPr wrap="square" lIns="0" tIns="0" rIns="0" bIns="0" rtlCol="0" anchor="ctr"/>
          <a:lstStyle/>
          <a:p>
            <a:pPr indent="0" marL="0">
              <a:lnSpc>
                <a:spcPts val="1900"/>
              </a:lnSpc>
              <a:buNone/>
            </a:pPr>
            <a:r>
              <a:rPr lang="en-US" sz="1400" dirty="0">
                <a:solidFill>
                  <a:srgbClr val="E8EEFF"/>
                </a:solidFill>
                <a:latin typeface="Calibri" pitchFamily="34" charset="0"/>
                <a:ea typeface="Calibri" pitchFamily="34" charset="-122"/>
                <a:cs typeface="Calibri" pitchFamily="34" charset="-120"/>
              </a:rPr>
              <a:t>Certain doors only open for a crew member's voice. The player reads that person's diaries, then types an imitation, any words they like.
</a:t>
            </a:r>
            <a:pPr indent="0" marL="0">
              <a:lnSpc>
                <a:spcPts val="1900"/>
              </a:lnSpc>
              <a:buNone/>
            </a:pPr>
            <a:r>
              <a:rPr lang="en-US" sz="1400" dirty="0">
                <a:solidFill>
                  <a:srgbClr val="E8EEFF"/>
                </a:solidFill>
                <a:latin typeface="Calibri" pitchFamily="34" charset="0"/>
                <a:ea typeface="Calibri" pitchFamily="34" charset="-122"/>
                <a:cs typeface="Calibri" pitchFamily="34" charset="-120"/>
              </a:rPr>
              <a:t>The network computes, from probability alone, whose voice those words carry. The bars on screen are its actual reasoning, drawn live.
</a:t>
            </a:r>
            <a:pPr indent="0" marL="0">
              <a:lnSpc>
                <a:spcPts val="1900"/>
              </a:lnSpc>
              <a:buNone/>
            </a:pPr>
            <a:r>
              <a:rPr lang="en-US" sz="1400" dirty="0">
                <a:solidFill>
                  <a:srgbClr val="8FA3C8"/>
                </a:solidFill>
                <a:latin typeface="Calibri" pitchFamily="34" charset="0"/>
                <a:ea typeface="Calibri" pitchFamily="34" charset="-122"/>
                <a:cs typeface="Calibri" pitchFamily="34" charset="-120"/>
              </a:rPr>
              <a:t>No keyword lists. No prepared answers. Nonsense is heard as static, a captain's clipped orders are heard as the captain, and a line about misting the ferns opens the botanist's garden vault.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QUALITY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Nine robot playtesters tried to break it</a:t>
            </a:r>
            <a:endParaRPr lang="en-US" sz="3200" dirty="0"/>
          </a:p>
        </p:txBody>
      </p:sp>
      <p:sp>
        <p:nvSpPr>
          <p:cNvPr id="4" name="Text 2"/>
          <p:cNvSpPr txBox="1"/>
          <p:nvPr/>
        </p:nvSpPr>
        <p:spPr>
          <a:xfrm>
            <a:off x="640080" y="1783080"/>
            <a:ext cx="10881360" cy="731520"/>
          </a:xfrm>
          <a:prstGeom prst="rect">
            <a:avLst/>
          </a:prstGeom>
          <a:noFill/>
          <a:ln/>
        </p:spPr>
        <p:txBody>
          <a:bodyPr wrap="square" lIns="0" tIns="0" rIns="0" bIns="0" rtlCol="0" anchor="ctr"/>
          <a:lstStyle/>
          <a:p>
            <a:pPr indent="0" marL="0">
              <a:lnSpc>
                <a:spcPts val="1900"/>
              </a:lnSpc>
              <a:buNone/>
            </a:pPr>
            <a:r>
              <a:rPr lang="en-US" sz="1450" dirty="0">
                <a:solidFill>
                  <a:srgbClr val="8FA3C8"/>
                </a:solidFill>
                <a:latin typeface="Calibri" pitchFamily="34" charset="0"/>
                <a:ea typeface="Calibri" pitchFamily="34" charset="-122"/>
                <a:cs typeface="Calibri" pitchFamily="34" charset="-120"/>
              </a:rPr>
              <a:t>Before release, nine independent AI testers each attacked one thing: a first-timer's opening minutes, the voice doors, hostile keyboard input, the air supply, a full honest playthrough, phones, saved games, the ghost's writing quality, and speed.</a:t>
            </a:r>
            <a:endParaRPr lang="en-US" sz="1450" dirty="0"/>
          </a:p>
        </p:txBody>
      </p:sp>
      <p:sp>
        <p:nvSpPr>
          <p:cNvPr id="5" name="Shape 3"/>
          <p:cNvSpPr/>
          <p:nvPr/>
        </p:nvSpPr>
        <p:spPr>
          <a:xfrm>
            <a:off x="640080" y="2788920"/>
            <a:ext cx="3520440" cy="2331720"/>
          </a:xfrm>
          <a:prstGeom prst="roundRect">
            <a:avLst>
              <a:gd name="adj" fmla="val 3137"/>
            </a:avLst>
          </a:prstGeom>
          <a:solidFill>
            <a:srgbClr val="151B30"/>
          </a:solidFill>
          <a:ln/>
        </p:spPr>
      </p:sp>
      <p:sp>
        <p:nvSpPr>
          <p:cNvPr id="6" name="Shape 4"/>
          <p:cNvSpPr/>
          <p:nvPr/>
        </p:nvSpPr>
        <p:spPr>
          <a:xfrm>
            <a:off x="914400" y="3063240"/>
            <a:ext cx="603504" cy="603504"/>
          </a:xfrm>
          <a:prstGeom prst="ellipse">
            <a:avLst/>
          </a:prstGeom>
          <a:solidFill>
            <a:srgbClr val="101526"/>
          </a:solidFill>
          <a:ln/>
        </p:spPr>
      </p:sp>
      <p:pic>
        <p:nvPicPr>
          <p:cNvPr id="7" name="Image 0" descr="preencoded.png">    </p:cNvPr>
          <p:cNvPicPr>
            <a:picLocks noChangeAspect="1"/>
          </p:cNvPicPr>
          <p:nvPr/>
        </p:nvPicPr>
        <p:blipFill>
          <a:blip r:embed="rId1"/>
          <a:stretch>
            <a:fillRect/>
          </a:stretch>
        </p:blipFill>
        <p:spPr>
          <a:xfrm>
            <a:off x="1060704" y="3209544"/>
            <a:ext cx="310896" cy="310896"/>
          </a:xfrm>
          <a:prstGeom prst="rect">
            <a:avLst/>
          </a:prstGeom>
        </p:spPr>
      </p:pic>
      <p:sp>
        <p:nvSpPr>
          <p:cNvPr id="8" name="Text 5"/>
          <p:cNvSpPr txBox="1"/>
          <p:nvPr/>
        </p:nvSpPr>
        <p:spPr>
          <a:xfrm>
            <a:off x="914400" y="3840480"/>
            <a:ext cx="2971800" cy="365760"/>
          </a:xfrm>
          <a:prstGeom prst="rect">
            <a:avLst/>
          </a:prstGeom>
          <a:noFill/>
          <a:ln/>
        </p:spPr>
        <p:txBody>
          <a:bodyPr wrap="square" lIns="0" tIns="0" rIns="0" bIns="0" rtlCol="0" anchor="ctr"/>
          <a:lstStyle/>
          <a:p>
            <a:pPr indent="0" marL="0">
              <a:buNone/>
            </a:pPr>
            <a:r>
              <a:rPr lang="en-US" sz="1650" b="1" dirty="0">
                <a:solidFill>
                  <a:srgbClr val="FFD76A"/>
                </a:solidFill>
                <a:latin typeface="Calibri" pitchFamily="34" charset="0"/>
                <a:ea typeface="Calibri" pitchFamily="34" charset="-122"/>
                <a:cs typeface="Calibri" pitchFamily="34" charset="-120"/>
              </a:rPr>
              <a:t>19 issues found</a:t>
            </a:r>
            <a:endParaRPr lang="en-US" sz="1650" dirty="0"/>
          </a:p>
        </p:txBody>
      </p:sp>
      <p:sp>
        <p:nvSpPr>
          <p:cNvPr id="9" name="Text 6"/>
          <p:cNvSpPr txBox="1"/>
          <p:nvPr/>
        </p:nvSpPr>
        <p:spPr>
          <a:xfrm>
            <a:off x="914400" y="4224528"/>
            <a:ext cx="297180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from a door that gave empty hints to an ending button that died on replay</a:t>
            </a:r>
            <a:endParaRPr lang="en-US" sz="1200" dirty="0"/>
          </a:p>
        </p:txBody>
      </p:sp>
      <p:sp>
        <p:nvSpPr>
          <p:cNvPr id="10" name="Shape 7"/>
          <p:cNvSpPr/>
          <p:nvPr/>
        </p:nvSpPr>
        <p:spPr>
          <a:xfrm>
            <a:off x="4498848" y="2788920"/>
            <a:ext cx="3520440" cy="2331720"/>
          </a:xfrm>
          <a:prstGeom prst="roundRect">
            <a:avLst>
              <a:gd name="adj" fmla="val 3137"/>
            </a:avLst>
          </a:prstGeom>
          <a:solidFill>
            <a:srgbClr val="151B30"/>
          </a:solidFill>
          <a:ln/>
        </p:spPr>
      </p:sp>
      <p:sp>
        <p:nvSpPr>
          <p:cNvPr id="11" name="Shape 8"/>
          <p:cNvSpPr/>
          <p:nvPr/>
        </p:nvSpPr>
        <p:spPr>
          <a:xfrm>
            <a:off x="4773168" y="3063240"/>
            <a:ext cx="603504" cy="603504"/>
          </a:xfrm>
          <a:prstGeom prst="ellipse">
            <a:avLst/>
          </a:prstGeom>
          <a:solidFill>
            <a:srgbClr val="101526"/>
          </a:solidFill>
          <a:ln/>
        </p:spPr>
      </p:sp>
      <p:pic>
        <p:nvPicPr>
          <p:cNvPr id="12" name="Image 1" descr="preencoded.png">    </p:cNvPr>
          <p:cNvPicPr>
            <a:picLocks noChangeAspect="1"/>
          </p:cNvPicPr>
          <p:nvPr/>
        </p:nvPicPr>
        <p:blipFill>
          <a:blip r:embed="rId2"/>
          <a:stretch>
            <a:fillRect/>
          </a:stretch>
        </p:blipFill>
        <p:spPr>
          <a:xfrm>
            <a:off x="4919472" y="3209544"/>
            <a:ext cx="310896" cy="310896"/>
          </a:xfrm>
          <a:prstGeom prst="rect">
            <a:avLst/>
          </a:prstGeom>
        </p:spPr>
      </p:pic>
      <p:sp>
        <p:nvSpPr>
          <p:cNvPr id="13" name="Text 9"/>
          <p:cNvSpPr txBox="1"/>
          <p:nvPr/>
        </p:nvSpPr>
        <p:spPr>
          <a:xfrm>
            <a:off x="4773168" y="3840480"/>
            <a:ext cx="2971800" cy="365760"/>
          </a:xfrm>
          <a:prstGeom prst="rect">
            <a:avLst/>
          </a:prstGeom>
          <a:noFill/>
          <a:ln/>
        </p:spPr>
        <p:txBody>
          <a:bodyPr wrap="square" lIns="0" tIns="0" rIns="0" bIns="0" rtlCol="0" anchor="ctr"/>
          <a:lstStyle/>
          <a:p>
            <a:pPr indent="0" marL="0">
              <a:buNone/>
            </a:pPr>
            <a:r>
              <a:rPr lang="en-US" sz="1650" b="1" dirty="0">
                <a:solidFill>
                  <a:srgbClr val="FFD76A"/>
                </a:solidFill>
                <a:latin typeface="Calibri" pitchFamily="34" charset="0"/>
                <a:ea typeface="Calibri" pitchFamily="34" charset="-122"/>
                <a:cs typeface="Calibri" pitchFamily="34" charset="-120"/>
              </a:rPr>
              <a:t>Every one verified</a:t>
            </a:r>
            <a:endParaRPr lang="en-US" sz="1650" dirty="0"/>
          </a:p>
        </p:txBody>
      </p:sp>
      <p:sp>
        <p:nvSpPr>
          <p:cNvPr id="14" name="Text 10"/>
          <p:cNvSpPr txBox="1"/>
          <p:nvPr/>
        </p:nvSpPr>
        <p:spPr>
          <a:xfrm>
            <a:off x="4773168" y="4224528"/>
            <a:ext cx="297180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each report came with steps to reproduce it and a screenshot as evidence</a:t>
            </a:r>
            <a:endParaRPr lang="en-US" sz="1200" dirty="0"/>
          </a:p>
        </p:txBody>
      </p:sp>
      <p:sp>
        <p:nvSpPr>
          <p:cNvPr id="15" name="Shape 11"/>
          <p:cNvSpPr/>
          <p:nvPr/>
        </p:nvSpPr>
        <p:spPr>
          <a:xfrm>
            <a:off x="8357616" y="2788920"/>
            <a:ext cx="3520440" cy="2331720"/>
          </a:xfrm>
          <a:prstGeom prst="roundRect">
            <a:avLst>
              <a:gd name="adj" fmla="val 3137"/>
            </a:avLst>
          </a:prstGeom>
          <a:solidFill>
            <a:srgbClr val="151B30"/>
          </a:solidFill>
          <a:ln/>
        </p:spPr>
      </p:sp>
      <p:sp>
        <p:nvSpPr>
          <p:cNvPr id="16" name="Shape 12"/>
          <p:cNvSpPr/>
          <p:nvPr/>
        </p:nvSpPr>
        <p:spPr>
          <a:xfrm>
            <a:off x="8631936" y="3063240"/>
            <a:ext cx="603504" cy="603504"/>
          </a:xfrm>
          <a:prstGeom prst="ellipse">
            <a:avLst/>
          </a:prstGeom>
          <a:solidFill>
            <a:srgbClr val="101526"/>
          </a:solidFill>
          <a:ln/>
        </p:spPr>
      </p:sp>
      <p:pic>
        <p:nvPicPr>
          <p:cNvPr id="17" name="Image 2" descr="preencoded.png">    </p:cNvPr>
          <p:cNvPicPr>
            <a:picLocks noChangeAspect="1"/>
          </p:cNvPicPr>
          <p:nvPr/>
        </p:nvPicPr>
        <p:blipFill>
          <a:blip r:embed="rId3"/>
          <a:stretch>
            <a:fillRect/>
          </a:stretch>
        </p:blipFill>
        <p:spPr>
          <a:xfrm>
            <a:off x="8778240" y="3209544"/>
            <a:ext cx="310896" cy="310896"/>
          </a:xfrm>
          <a:prstGeom prst="rect">
            <a:avLst/>
          </a:prstGeom>
        </p:spPr>
      </p:pic>
      <p:sp>
        <p:nvSpPr>
          <p:cNvPr id="18" name="Text 13"/>
          <p:cNvSpPr txBox="1"/>
          <p:nvPr/>
        </p:nvSpPr>
        <p:spPr>
          <a:xfrm>
            <a:off x="8631936" y="3840480"/>
            <a:ext cx="2971800" cy="365760"/>
          </a:xfrm>
          <a:prstGeom prst="rect">
            <a:avLst/>
          </a:prstGeom>
          <a:noFill/>
          <a:ln/>
        </p:spPr>
        <p:txBody>
          <a:bodyPr wrap="square" lIns="0" tIns="0" rIns="0" bIns="0" rtlCol="0" anchor="ctr"/>
          <a:lstStyle/>
          <a:p>
            <a:pPr indent="0" marL="0">
              <a:buNone/>
            </a:pPr>
            <a:r>
              <a:rPr lang="en-US" sz="1650" b="1" dirty="0">
                <a:solidFill>
                  <a:srgbClr val="FFD76A"/>
                </a:solidFill>
                <a:latin typeface="Calibri" pitchFamily="34" charset="0"/>
                <a:ea typeface="Calibri" pitchFamily="34" charset="-122"/>
                <a:cs typeface="Calibri" pitchFamily="34" charset="-120"/>
              </a:rPr>
              <a:t>All fixed, then re-tested</a:t>
            </a:r>
            <a:endParaRPr lang="en-US" sz="1650" dirty="0"/>
          </a:p>
        </p:txBody>
      </p:sp>
      <p:sp>
        <p:nvSpPr>
          <p:cNvPr id="19" name="Text 14"/>
          <p:cNvSpPr txBox="1"/>
          <p:nvPr/>
        </p:nvSpPr>
        <p:spPr>
          <a:xfrm>
            <a:off x="8631936" y="4224528"/>
            <a:ext cx="297180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including the subtlest bug in the project: a single invisible space that confused the mind's hearing</a:t>
            </a:r>
            <a:endParaRPr lang="en-US" sz="1200" dirty="0"/>
          </a:p>
        </p:txBody>
      </p:sp>
      <p:sp>
        <p:nvSpPr>
          <p:cNvPr id="20" name="Text 15"/>
          <p:cNvSpPr txBox="1"/>
          <p:nvPr/>
        </p:nvSpPr>
        <p:spPr>
          <a:xfrm>
            <a:off x="640080" y="5486400"/>
            <a:ext cx="10881360" cy="640080"/>
          </a:xfrm>
          <a:prstGeom prst="rect">
            <a:avLst/>
          </a:prstGeom>
          <a:noFill/>
          <a:ln/>
        </p:spPr>
        <p:txBody>
          <a:bodyPr wrap="square" lIns="0" tIns="0" rIns="0" bIns="0" rtlCol="0" anchor="ctr"/>
          <a:lstStyle/>
          <a:p>
            <a:pPr indent="0" marL="0">
              <a:lnSpc>
                <a:spcPts val="1700"/>
              </a:lnSpc>
              <a:buNone/>
            </a:pPr>
            <a:r>
              <a:rPr lang="en-US" sz="1300" i="1" dirty="0">
                <a:solidFill>
                  <a:srgbClr val="7CFFBE"/>
                </a:solidFill>
                <a:latin typeface="Calibri" pitchFamily="34" charset="0"/>
                <a:ea typeface="Calibri" pitchFamily="34" charset="-122"/>
                <a:cs typeface="Calibri" pitchFamily="34" charset="-120"/>
              </a:rPr>
              <a:t>The strangest finding: the tester imitating the ship's medic kept being mistaken for the gardener. The cause was one stray space character in how we asked the mind to listen. Removing it made everyone's voice ten points clearer.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PROOF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How a skeptic can check</a:t>
            </a:r>
            <a:endParaRPr lang="en-US" sz="3200" dirty="0"/>
          </a:p>
        </p:txBody>
      </p:sp>
      <p:sp>
        <p:nvSpPr>
          <p:cNvPr id="4" name="Shape 2"/>
          <p:cNvSpPr/>
          <p:nvPr/>
        </p:nvSpPr>
        <p:spPr>
          <a:xfrm>
            <a:off x="640080" y="1874520"/>
            <a:ext cx="10881360" cy="1325880"/>
          </a:xfrm>
          <a:prstGeom prst="roundRect">
            <a:avLst>
              <a:gd name="adj" fmla="val 5517"/>
            </a:avLst>
          </a:prstGeom>
          <a:solidFill>
            <a:srgbClr val="151B30"/>
          </a:solidFill>
          <a:ln w="12700">
            <a:solidFill>
              <a:srgbClr val="151B30"/>
            </a:solidFill>
            <a:prstDash val="solid"/>
          </a:ln>
        </p:spPr>
      </p:sp>
      <p:sp>
        <p:nvSpPr>
          <p:cNvPr id="5" name="Shape 3"/>
          <p:cNvSpPr/>
          <p:nvPr/>
        </p:nvSpPr>
        <p:spPr>
          <a:xfrm>
            <a:off x="914400" y="2240280"/>
            <a:ext cx="603504" cy="603504"/>
          </a:xfrm>
          <a:prstGeom prst="ellipse">
            <a:avLst/>
          </a:prstGeom>
          <a:solidFill>
            <a:srgbClr val="0B0E1A"/>
          </a:solidFill>
          <a:ln/>
        </p:spPr>
      </p:sp>
      <p:pic>
        <p:nvPicPr>
          <p:cNvPr id="6" name="Image 0" descr="preencoded.png">    </p:cNvPr>
          <p:cNvPicPr>
            <a:picLocks noChangeAspect="1"/>
          </p:cNvPicPr>
          <p:nvPr/>
        </p:nvPicPr>
        <p:blipFill>
          <a:blip r:embed="rId1"/>
          <a:stretch>
            <a:fillRect/>
          </a:stretch>
        </p:blipFill>
        <p:spPr>
          <a:xfrm>
            <a:off x="1060704" y="2386584"/>
            <a:ext cx="310896" cy="310896"/>
          </a:xfrm>
          <a:prstGeom prst="rect">
            <a:avLst/>
          </a:prstGeom>
        </p:spPr>
      </p:pic>
      <p:sp>
        <p:nvSpPr>
          <p:cNvPr id="7" name="Text 4"/>
          <p:cNvSpPr txBox="1"/>
          <p:nvPr/>
        </p:nvSpPr>
        <p:spPr>
          <a:xfrm>
            <a:off x="1783080" y="2057400"/>
            <a:ext cx="9418320" cy="365760"/>
          </a:xfrm>
          <a:prstGeom prst="rect">
            <a:avLst/>
          </a:prstGeom>
          <a:noFill/>
          <a:ln/>
        </p:spPr>
        <p:txBody>
          <a:bodyPr wrap="square" lIns="0" tIns="0" rIns="0" bIns="0" rtlCol="0" anchor="ctr"/>
          <a:lstStyle/>
          <a:p>
            <a:pPr indent="0" marL="0">
              <a:buNone/>
            </a:pPr>
            <a:r>
              <a:rPr lang="en-US" sz="1650" b="1" dirty="0">
                <a:solidFill>
                  <a:srgbClr val="E8EEFF"/>
                </a:solidFill>
                <a:latin typeface="Calibri" pitchFamily="34" charset="0"/>
                <a:ea typeface="Calibri" pitchFamily="34" charset="-122"/>
                <a:cs typeface="Calibri" pitchFamily="34" charset="-120"/>
              </a:rPr>
              <a:t>Cut the internet</a:t>
            </a:r>
            <a:endParaRPr lang="en-US" sz="1650" dirty="0"/>
          </a:p>
        </p:txBody>
      </p:sp>
      <p:sp>
        <p:nvSpPr>
          <p:cNvPr id="8" name="Text 5"/>
          <p:cNvSpPr txBox="1"/>
          <p:nvPr/>
        </p:nvSpPr>
        <p:spPr>
          <a:xfrm>
            <a:off x="1783080" y="2441448"/>
            <a:ext cx="9418320" cy="640080"/>
          </a:xfrm>
          <a:prstGeom prst="rect">
            <a:avLst/>
          </a:prstGeom>
          <a:noFill/>
          <a:ln/>
        </p:spPr>
        <p:txBody>
          <a:bodyPr wrap="square" lIns="0" tIns="0" rIns="0" bIns="0" rtlCol="0" anchor="ctr"/>
          <a:lstStyle/>
          <a:p>
            <a:pPr indent="0" marL="0">
              <a:lnSpc>
                <a:spcPts val="1600"/>
              </a:lnSpc>
              <a:buNone/>
            </a:pPr>
            <a:r>
              <a:rPr lang="en-US" sz="1300" dirty="0">
                <a:solidFill>
                  <a:srgbClr val="8FA3C8"/>
                </a:solidFill>
                <a:latin typeface="Calibri" pitchFamily="34" charset="0"/>
                <a:ea typeface="Calibri" pitchFamily="34" charset="-122"/>
                <a:cs typeface="Calibri" pitchFamily="34" charset="-120"/>
              </a:rPr>
              <a:t>Load the game, switch to airplane mode, keep playing. The ghost keeps generating. There is no server to call, because the whole mind travels inside the page.</a:t>
            </a:r>
            <a:endParaRPr lang="en-US" sz="1300" dirty="0"/>
          </a:p>
        </p:txBody>
      </p:sp>
      <p:sp>
        <p:nvSpPr>
          <p:cNvPr id="9" name="Shape 6"/>
          <p:cNvSpPr/>
          <p:nvPr/>
        </p:nvSpPr>
        <p:spPr>
          <a:xfrm>
            <a:off x="640080" y="3410712"/>
            <a:ext cx="10881360" cy="1325880"/>
          </a:xfrm>
          <a:prstGeom prst="roundRect">
            <a:avLst>
              <a:gd name="adj" fmla="val 5517"/>
            </a:avLst>
          </a:prstGeom>
          <a:solidFill>
            <a:srgbClr val="151B30"/>
          </a:solidFill>
          <a:ln w="12700">
            <a:solidFill>
              <a:srgbClr val="151B30"/>
            </a:solidFill>
            <a:prstDash val="solid"/>
          </a:ln>
        </p:spPr>
      </p:sp>
      <p:sp>
        <p:nvSpPr>
          <p:cNvPr id="10" name="Shape 7"/>
          <p:cNvSpPr/>
          <p:nvPr/>
        </p:nvSpPr>
        <p:spPr>
          <a:xfrm>
            <a:off x="914400" y="3776472"/>
            <a:ext cx="603504" cy="603504"/>
          </a:xfrm>
          <a:prstGeom prst="ellipse">
            <a:avLst/>
          </a:prstGeom>
          <a:solidFill>
            <a:srgbClr val="0B0E1A"/>
          </a:solidFill>
          <a:ln/>
        </p:spPr>
      </p:sp>
      <p:pic>
        <p:nvPicPr>
          <p:cNvPr id="11" name="Image 1" descr="preencoded.png">    </p:cNvPr>
          <p:cNvPicPr>
            <a:picLocks noChangeAspect="1"/>
          </p:cNvPicPr>
          <p:nvPr/>
        </p:nvPicPr>
        <p:blipFill>
          <a:blip r:embed="rId2"/>
          <a:stretch>
            <a:fillRect/>
          </a:stretch>
        </p:blipFill>
        <p:spPr>
          <a:xfrm>
            <a:off x="1060704" y="3922776"/>
            <a:ext cx="310896" cy="310896"/>
          </a:xfrm>
          <a:prstGeom prst="rect">
            <a:avLst/>
          </a:prstGeom>
        </p:spPr>
      </p:pic>
      <p:sp>
        <p:nvSpPr>
          <p:cNvPr id="12" name="Text 8"/>
          <p:cNvSpPr txBox="1"/>
          <p:nvPr/>
        </p:nvSpPr>
        <p:spPr>
          <a:xfrm>
            <a:off x="1783080" y="3593592"/>
            <a:ext cx="9418320" cy="365760"/>
          </a:xfrm>
          <a:prstGeom prst="rect">
            <a:avLst/>
          </a:prstGeom>
          <a:noFill/>
          <a:ln/>
        </p:spPr>
        <p:txBody>
          <a:bodyPr wrap="square" lIns="0" tIns="0" rIns="0" bIns="0" rtlCol="0" anchor="ctr"/>
          <a:lstStyle/>
          <a:p>
            <a:pPr indent="0" marL="0">
              <a:buNone/>
            </a:pPr>
            <a:r>
              <a:rPr lang="en-US" sz="1650" b="1" dirty="0">
                <a:solidFill>
                  <a:srgbClr val="E8EEFF"/>
                </a:solidFill>
                <a:latin typeface="Calibri" pitchFamily="34" charset="0"/>
                <a:ea typeface="Calibri" pitchFamily="34" charset="-122"/>
                <a:cs typeface="Calibri" pitchFamily="34" charset="-120"/>
              </a:rPr>
              <a:t>Play twice</a:t>
            </a:r>
            <a:endParaRPr lang="en-US" sz="1650" dirty="0"/>
          </a:p>
        </p:txBody>
      </p:sp>
      <p:sp>
        <p:nvSpPr>
          <p:cNvPr id="13" name="Text 9"/>
          <p:cNvSpPr txBox="1"/>
          <p:nvPr/>
        </p:nvSpPr>
        <p:spPr>
          <a:xfrm>
            <a:off x="1783080" y="3977640"/>
            <a:ext cx="9418320" cy="640080"/>
          </a:xfrm>
          <a:prstGeom prst="rect">
            <a:avLst/>
          </a:prstGeom>
          <a:noFill/>
          <a:ln/>
        </p:spPr>
        <p:txBody>
          <a:bodyPr wrap="square" lIns="0" tIns="0" rIns="0" bIns="0" rtlCol="0" anchor="ctr"/>
          <a:lstStyle/>
          <a:p>
            <a:pPr indent="0" marL="0">
              <a:lnSpc>
                <a:spcPts val="1600"/>
              </a:lnSpc>
              <a:buNone/>
            </a:pPr>
            <a:r>
              <a:rPr lang="en-US" sz="1300" dirty="0">
                <a:solidFill>
                  <a:srgbClr val="8FA3C8"/>
                </a:solidFill>
                <a:latin typeface="Calibri" pitchFamily="34" charset="0"/>
                <a:ea typeface="Calibri" pitchFamily="34" charset="-122"/>
                <a:cs typeface="Calibri" pitchFamily="34" charset="-120"/>
              </a:rPr>
              <a:t>Restart and read the same terminal. The diary is different, because it never existed until you asked. Nothing is retrieved; everything is composed.</a:t>
            </a:r>
            <a:endParaRPr lang="en-US" sz="1300" dirty="0"/>
          </a:p>
        </p:txBody>
      </p:sp>
      <p:sp>
        <p:nvSpPr>
          <p:cNvPr id="14" name="Shape 10"/>
          <p:cNvSpPr/>
          <p:nvPr/>
        </p:nvSpPr>
        <p:spPr>
          <a:xfrm>
            <a:off x="640080" y="4946904"/>
            <a:ext cx="10881360" cy="1325880"/>
          </a:xfrm>
          <a:prstGeom prst="roundRect">
            <a:avLst>
              <a:gd name="adj" fmla="val 5517"/>
            </a:avLst>
          </a:prstGeom>
          <a:solidFill>
            <a:srgbClr val="101526"/>
          </a:solidFill>
          <a:ln w="12700">
            <a:solidFill>
              <a:srgbClr val="B98AFF"/>
            </a:solidFill>
            <a:prstDash val="solid"/>
          </a:ln>
        </p:spPr>
      </p:sp>
      <p:sp>
        <p:nvSpPr>
          <p:cNvPr id="15" name="Shape 11"/>
          <p:cNvSpPr/>
          <p:nvPr/>
        </p:nvSpPr>
        <p:spPr>
          <a:xfrm>
            <a:off x="914400" y="5312664"/>
            <a:ext cx="603504" cy="603504"/>
          </a:xfrm>
          <a:prstGeom prst="ellipse">
            <a:avLst/>
          </a:prstGeom>
          <a:solidFill>
            <a:srgbClr val="0B0E1A"/>
          </a:solidFill>
          <a:ln/>
        </p:spPr>
      </p:sp>
      <p:pic>
        <p:nvPicPr>
          <p:cNvPr id="16" name="Image 2" descr="preencoded.png">    </p:cNvPr>
          <p:cNvPicPr>
            <a:picLocks noChangeAspect="1"/>
          </p:cNvPicPr>
          <p:nvPr/>
        </p:nvPicPr>
        <p:blipFill>
          <a:blip r:embed="rId3"/>
          <a:stretch>
            <a:fillRect/>
          </a:stretch>
        </p:blipFill>
        <p:spPr>
          <a:xfrm>
            <a:off x="1060704" y="5458968"/>
            <a:ext cx="310896" cy="310896"/>
          </a:xfrm>
          <a:prstGeom prst="rect">
            <a:avLst/>
          </a:prstGeom>
        </p:spPr>
      </p:pic>
      <p:sp>
        <p:nvSpPr>
          <p:cNvPr id="17" name="Text 12"/>
          <p:cNvSpPr txBox="1"/>
          <p:nvPr/>
        </p:nvSpPr>
        <p:spPr>
          <a:xfrm>
            <a:off x="1783080" y="5129784"/>
            <a:ext cx="9418320" cy="365760"/>
          </a:xfrm>
          <a:prstGeom prst="rect">
            <a:avLst/>
          </a:prstGeom>
          <a:noFill/>
          <a:ln/>
        </p:spPr>
        <p:txBody>
          <a:bodyPr wrap="square" lIns="0" tIns="0" rIns="0" bIns="0" rtlCol="0" anchor="ctr"/>
          <a:lstStyle/>
          <a:p>
            <a:pPr indent="0" marL="0">
              <a:buNone/>
            </a:pPr>
            <a:r>
              <a:rPr lang="en-US" sz="1650" b="1" dirty="0">
                <a:solidFill>
                  <a:srgbClr val="E8EEFF"/>
                </a:solidFill>
                <a:latin typeface="Calibri" pitchFamily="34" charset="0"/>
                <a:ea typeface="Calibri" pitchFamily="34" charset="-122"/>
                <a:cs typeface="Calibri" pitchFamily="34" charset="-120"/>
              </a:rPr>
              <a:t>Open THE MIND panel</a:t>
            </a:r>
            <a:endParaRPr lang="en-US" sz="1650" dirty="0"/>
          </a:p>
        </p:txBody>
      </p:sp>
      <p:sp>
        <p:nvSpPr>
          <p:cNvPr id="18" name="Text 13"/>
          <p:cNvSpPr txBox="1"/>
          <p:nvPr/>
        </p:nvSpPr>
        <p:spPr>
          <a:xfrm>
            <a:off x="1783080" y="5513832"/>
            <a:ext cx="9418320" cy="640080"/>
          </a:xfrm>
          <a:prstGeom prst="rect">
            <a:avLst/>
          </a:prstGeom>
          <a:noFill/>
          <a:ln/>
        </p:spPr>
        <p:txBody>
          <a:bodyPr wrap="square" lIns="0" tIns="0" rIns="0" bIns="0" rtlCol="0" anchor="ctr"/>
          <a:lstStyle/>
          <a:p>
            <a:pPr indent="0" marL="0">
              <a:lnSpc>
                <a:spcPts val="1600"/>
              </a:lnSpc>
              <a:buNone/>
            </a:pPr>
            <a:r>
              <a:rPr lang="en-US" sz="1300" dirty="0">
                <a:solidFill>
                  <a:srgbClr val="8FA3C8"/>
                </a:solidFill>
                <a:latin typeface="Calibri" pitchFamily="34" charset="0"/>
                <a:ea typeface="Calibri" pitchFamily="34" charset="-122"/>
                <a:cs typeface="Calibri" pitchFamily="34" charset="-120"/>
              </a:rPr>
              <a:t>Inside the game, type any beginning of a sentence and watch the network weigh what word should come next, with live percentages. That arithmetic is the ghost.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A"/>
        </a:solidFill>
      </p:bgPr>
    </p:bg>
    <p:spTree>
      <p:nvGrpSpPr>
        <p:cNvPr id="1" name=""/>
        <p:cNvGrpSpPr/>
        <p:nvPr/>
      </p:nvGrpSpPr>
      <p:grpSpPr>
        <a:xfrm>
          <a:off x="0" y="0"/>
          <a:ext cx="0" cy="0"/>
          <a:chOff x="0" y="0"/>
          <a:chExt cx="0" cy="0"/>
        </a:xfrm>
      </p:grpSpPr>
      <p:sp>
        <p:nvSpPr>
          <p:cNvPr id="2" name="Text 0"/>
          <p:cNvSpPr txBox="1"/>
          <p:nvPr/>
        </p:nvSpPr>
        <p:spPr>
          <a:xfrm>
            <a:off x="640080" y="50292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SHIP'S MANIFEST ]</a:t>
            </a:r>
            <a:endParaRPr lang="en-US" sz="12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200" b="1" dirty="0">
                <a:solidFill>
                  <a:srgbClr val="E8EEFF"/>
                </a:solidFill>
                <a:latin typeface="Courier New" pitchFamily="34" charset="0"/>
                <a:ea typeface="Courier New" pitchFamily="34" charset="-122"/>
                <a:cs typeface="Courier New" pitchFamily="34" charset="-120"/>
              </a:rPr>
              <a:t>The whole voyage, counted</a:t>
            </a:r>
            <a:endParaRPr lang="en-US" sz="3200" dirty="0"/>
          </a:p>
        </p:txBody>
      </p:sp>
      <p:sp>
        <p:nvSpPr>
          <p:cNvPr id="4" name="Shape 2"/>
          <p:cNvSpPr/>
          <p:nvPr/>
        </p:nvSpPr>
        <p:spPr>
          <a:xfrm>
            <a:off x="640080" y="1965960"/>
            <a:ext cx="2624328" cy="1920240"/>
          </a:xfrm>
          <a:prstGeom prst="roundRect">
            <a:avLst>
              <a:gd name="adj" fmla="val 3810"/>
            </a:avLst>
          </a:prstGeom>
          <a:solidFill>
            <a:srgbClr val="151B30"/>
          </a:solidFill>
          <a:ln/>
        </p:spPr>
      </p:sp>
      <p:sp>
        <p:nvSpPr>
          <p:cNvPr id="5" name="Text 3"/>
          <p:cNvSpPr txBox="1"/>
          <p:nvPr/>
        </p:nvSpPr>
        <p:spPr>
          <a:xfrm>
            <a:off x="868680" y="222199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1</a:t>
            </a:r>
            <a:endParaRPr lang="en-US" sz="3600" dirty="0"/>
          </a:p>
        </p:txBody>
      </p:sp>
      <p:sp>
        <p:nvSpPr>
          <p:cNvPr id="6" name="Text 4"/>
          <p:cNvSpPr txBox="1"/>
          <p:nvPr/>
        </p:nvSpPr>
        <p:spPr>
          <a:xfrm>
            <a:off x="868680" y="301752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web page holds the entire game</a:t>
            </a:r>
            <a:endParaRPr lang="en-US" sz="1200" dirty="0"/>
          </a:p>
        </p:txBody>
      </p:sp>
      <p:sp>
        <p:nvSpPr>
          <p:cNvPr id="7" name="Shape 5"/>
          <p:cNvSpPr/>
          <p:nvPr/>
        </p:nvSpPr>
        <p:spPr>
          <a:xfrm>
            <a:off x="3538728" y="1965960"/>
            <a:ext cx="2624328" cy="1920240"/>
          </a:xfrm>
          <a:prstGeom prst="roundRect">
            <a:avLst>
              <a:gd name="adj" fmla="val 3810"/>
            </a:avLst>
          </a:prstGeom>
          <a:solidFill>
            <a:srgbClr val="151B30"/>
          </a:solidFill>
          <a:ln/>
        </p:spPr>
      </p:sp>
      <p:sp>
        <p:nvSpPr>
          <p:cNvPr id="8" name="Text 6"/>
          <p:cNvSpPr txBox="1"/>
          <p:nvPr/>
        </p:nvSpPr>
        <p:spPr>
          <a:xfrm>
            <a:off x="3767328" y="222199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6</a:t>
            </a:r>
            <a:endParaRPr lang="en-US" sz="3600" dirty="0"/>
          </a:p>
        </p:txBody>
      </p:sp>
      <p:sp>
        <p:nvSpPr>
          <p:cNvPr id="9" name="Text 7"/>
          <p:cNvSpPr txBox="1"/>
          <p:nvPr/>
        </p:nvSpPr>
        <p:spPr>
          <a:xfrm>
            <a:off x="3767328" y="301752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decks to survive, each with its own keeper</a:t>
            </a:r>
            <a:endParaRPr lang="en-US" sz="1200" dirty="0"/>
          </a:p>
        </p:txBody>
      </p:sp>
      <p:sp>
        <p:nvSpPr>
          <p:cNvPr id="10" name="Shape 8"/>
          <p:cNvSpPr/>
          <p:nvPr/>
        </p:nvSpPr>
        <p:spPr>
          <a:xfrm>
            <a:off x="6437376" y="1965960"/>
            <a:ext cx="2624328" cy="1920240"/>
          </a:xfrm>
          <a:prstGeom prst="roundRect">
            <a:avLst>
              <a:gd name="adj" fmla="val 3810"/>
            </a:avLst>
          </a:prstGeom>
          <a:solidFill>
            <a:srgbClr val="151B30"/>
          </a:solidFill>
          <a:ln/>
        </p:spPr>
      </p:sp>
      <p:sp>
        <p:nvSpPr>
          <p:cNvPr id="11" name="Text 9"/>
          <p:cNvSpPr txBox="1"/>
          <p:nvPr/>
        </p:nvSpPr>
        <p:spPr>
          <a:xfrm>
            <a:off x="6665976" y="222199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3</a:t>
            </a:r>
            <a:endParaRPr lang="en-US" sz="3600" dirty="0"/>
          </a:p>
        </p:txBody>
      </p:sp>
      <p:sp>
        <p:nvSpPr>
          <p:cNvPr id="12" name="Text 10"/>
          <p:cNvSpPr txBox="1"/>
          <p:nvPr/>
        </p:nvSpPr>
        <p:spPr>
          <a:xfrm>
            <a:off x="6665976" y="301752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endings, chosen by how you speak to the ghost</a:t>
            </a:r>
            <a:endParaRPr lang="en-US" sz="1200" dirty="0"/>
          </a:p>
        </p:txBody>
      </p:sp>
      <p:sp>
        <p:nvSpPr>
          <p:cNvPr id="13" name="Shape 11"/>
          <p:cNvSpPr/>
          <p:nvPr/>
        </p:nvSpPr>
        <p:spPr>
          <a:xfrm>
            <a:off x="9336024" y="1965960"/>
            <a:ext cx="2624328" cy="1920240"/>
          </a:xfrm>
          <a:prstGeom prst="roundRect">
            <a:avLst>
              <a:gd name="adj" fmla="val 3810"/>
            </a:avLst>
          </a:prstGeom>
          <a:solidFill>
            <a:srgbClr val="151B30"/>
          </a:solidFill>
          <a:ln/>
        </p:spPr>
      </p:sp>
      <p:sp>
        <p:nvSpPr>
          <p:cNvPr id="14" name="Text 12"/>
          <p:cNvSpPr txBox="1"/>
          <p:nvPr/>
        </p:nvSpPr>
        <p:spPr>
          <a:xfrm>
            <a:off x="9564624" y="222199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5</a:t>
            </a:r>
            <a:endParaRPr lang="en-US" sz="3600" dirty="0"/>
          </a:p>
        </p:txBody>
      </p:sp>
      <p:sp>
        <p:nvSpPr>
          <p:cNvPr id="15" name="Text 13"/>
          <p:cNvSpPr txBox="1"/>
          <p:nvPr/>
        </p:nvSpPr>
        <p:spPr>
          <a:xfrm>
            <a:off x="9564624" y="301752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crew voices the mind learned to tell apart</a:t>
            </a:r>
            <a:endParaRPr lang="en-US" sz="1200" dirty="0"/>
          </a:p>
        </p:txBody>
      </p:sp>
      <p:sp>
        <p:nvSpPr>
          <p:cNvPr id="16" name="Shape 14"/>
          <p:cNvSpPr/>
          <p:nvPr/>
        </p:nvSpPr>
        <p:spPr>
          <a:xfrm>
            <a:off x="640080" y="4114800"/>
            <a:ext cx="2624328" cy="1920240"/>
          </a:xfrm>
          <a:prstGeom prst="roundRect">
            <a:avLst>
              <a:gd name="adj" fmla="val 3810"/>
            </a:avLst>
          </a:prstGeom>
          <a:solidFill>
            <a:srgbClr val="151B30"/>
          </a:solidFill>
          <a:ln/>
        </p:spPr>
      </p:sp>
      <p:sp>
        <p:nvSpPr>
          <p:cNvPr id="17" name="Text 15"/>
          <p:cNvSpPr txBox="1"/>
          <p:nvPr/>
        </p:nvSpPr>
        <p:spPr>
          <a:xfrm>
            <a:off x="868680" y="437083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~450</a:t>
            </a:r>
            <a:endParaRPr lang="en-US" sz="3600" dirty="0"/>
          </a:p>
        </p:txBody>
      </p:sp>
      <p:sp>
        <p:nvSpPr>
          <p:cNvPr id="18" name="Text 16"/>
          <p:cNvSpPr txBox="1"/>
          <p:nvPr/>
        </p:nvSpPr>
        <p:spPr>
          <a:xfrm>
            <a:off x="868680" y="516636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pages of fiction written as its schoolbooks</a:t>
            </a:r>
            <a:endParaRPr lang="en-US" sz="1200" dirty="0"/>
          </a:p>
        </p:txBody>
      </p:sp>
      <p:sp>
        <p:nvSpPr>
          <p:cNvPr id="19" name="Shape 17"/>
          <p:cNvSpPr/>
          <p:nvPr/>
        </p:nvSpPr>
        <p:spPr>
          <a:xfrm>
            <a:off x="3538728" y="4114800"/>
            <a:ext cx="2624328" cy="1920240"/>
          </a:xfrm>
          <a:prstGeom prst="roundRect">
            <a:avLst>
              <a:gd name="adj" fmla="val 3810"/>
            </a:avLst>
          </a:prstGeom>
          <a:solidFill>
            <a:srgbClr val="151B30"/>
          </a:solidFill>
          <a:ln/>
        </p:spPr>
      </p:sp>
      <p:sp>
        <p:nvSpPr>
          <p:cNvPr id="20" name="Text 18"/>
          <p:cNvSpPr txBox="1"/>
          <p:nvPr/>
        </p:nvSpPr>
        <p:spPr>
          <a:xfrm>
            <a:off x="3767328" y="437083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35</a:t>
            </a:r>
            <a:endParaRPr lang="en-US" sz="3600" dirty="0"/>
          </a:p>
        </p:txBody>
      </p:sp>
      <p:sp>
        <p:nvSpPr>
          <p:cNvPr id="21" name="Text 19"/>
          <p:cNvSpPr txBox="1"/>
          <p:nvPr/>
        </p:nvSpPr>
        <p:spPr>
          <a:xfrm>
            <a:off x="3767328" y="516636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AI writers and testers worked in parallel</a:t>
            </a:r>
            <a:endParaRPr lang="en-US" sz="1200" dirty="0"/>
          </a:p>
        </p:txBody>
      </p:sp>
      <p:sp>
        <p:nvSpPr>
          <p:cNvPr id="22" name="Shape 20"/>
          <p:cNvSpPr/>
          <p:nvPr/>
        </p:nvSpPr>
        <p:spPr>
          <a:xfrm>
            <a:off x="6437376" y="4114800"/>
            <a:ext cx="2624328" cy="1920240"/>
          </a:xfrm>
          <a:prstGeom prst="roundRect">
            <a:avLst>
              <a:gd name="adj" fmla="val 3810"/>
            </a:avLst>
          </a:prstGeom>
          <a:solidFill>
            <a:srgbClr val="151B30"/>
          </a:solidFill>
          <a:ln/>
        </p:spPr>
      </p:sp>
      <p:sp>
        <p:nvSpPr>
          <p:cNvPr id="23" name="Text 21"/>
          <p:cNvSpPr txBox="1"/>
          <p:nvPr/>
        </p:nvSpPr>
        <p:spPr>
          <a:xfrm>
            <a:off x="6665976" y="4370832"/>
            <a:ext cx="2194560" cy="777240"/>
          </a:xfrm>
          <a:prstGeom prst="rect">
            <a:avLst/>
          </a:prstGeom>
          <a:noFill/>
          <a:ln/>
        </p:spPr>
        <p:txBody>
          <a:bodyPr wrap="square" lIns="0" tIns="0" rIns="0" bIns="0" rtlCol="0" anchor="ctr"/>
          <a:lstStyle/>
          <a:p>
            <a:pPr indent="0" marL="0">
              <a:buNone/>
            </a:pPr>
            <a:r>
              <a:rPr lang="en-US" sz="3600" b="1" dirty="0">
                <a:solidFill>
                  <a:srgbClr val="B98AFF"/>
                </a:solidFill>
                <a:latin typeface="Courier New" pitchFamily="34" charset="0"/>
                <a:ea typeface="Courier New" pitchFamily="34" charset="-122"/>
                <a:cs typeface="Courier New" pitchFamily="34" charset="-120"/>
              </a:rPr>
              <a:t>2.5 hrs</a:t>
            </a:r>
            <a:endParaRPr lang="en-US" sz="3600" dirty="0"/>
          </a:p>
        </p:txBody>
      </p:sp>
      <p:sp>
        <p:nvSpPr>
          <p:cNvPr id="24" name="Text 22"/>
          <p:cNvSpPr txBox="1"/>
          <p:nvPr/>
        </p:nvSpPr>
        <p:spPr>
          <a:xfrm>
            <a:off x="6665976" y="516636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of reading taught the ghost to speak</a:t>
            </a:r>
            <a:endParaRPr lang="en-US" sz="1200" dirty="0"/>
          </a:p>
        </p:txBody>
      </p:sp>
      <p:sp>
        <p:nvSpPr>
          <p:cNvPr id="25" name="Shape 23"/>
          <p:cNvSpPr/>
          <p:nvPr/>
        </p:nvSpPr>
        <p:spPr>
          <a:xfrm>
            <a:off x="9336024" y="4114800"/>
            <a:ext cx="2624328" cy="1920240"/>
          </a:xfrm>
          <a:prstGeom prst="roundRect">
            <a:avLst>
              <a:gd name="adj" fmla="val 3810"/>
            </a:avLst>
          </a:prstGeom>
          <a:solidFill>
            <a:srgbClr val="151B30"/>
          </a:solidFill>
          <a:ln/>
        </p:spPr>
      </p:sp>
      <p:sp>
        <p:nvSpPr>
          <p:cNvPr id="26" name="Text 24"/>
          <p:cNvSpPr txBox="1"/>
          <p:nvPr/>
        </p:nvSpPr>
        <p:spPr>
          <a:xfrm>
            <a:off x="9564624" y="4370832"/>
            <a:ext cx="2194560" cy="777240"/>
          </a:xfrm>
          <a:prstGeom prst="rect">
            <a:avLst/>
          </a:prstGeom>
          <a:noFill/>
          <a:ln/>
        </p:spPr>
        <p:txBody>
          <a:bodyPr wrap="square" lIns="0" tIns="0" rIns="0" bIns="0" rtlCol="0" anchor="ctr"/>
          <a:lstStyle/>
          <a:p>
            <a:pPr indent="0" marL="0">
              <a:buNone/>
            </a:pPr>
            <a:r>
              <a:rPr lang="en-US" sz="3600" b="1" dirty="0">
                <a:solidFill>
                  <a:srgbClr val="7CFFBE"/>
                </a:solidFill>
                <a:latin typeface="Courier New" pitchFamily="34" charset="0"/>
                <a:ea typeface="Courier New" pitchFamily="34" charset="-122"/>
                <a:cs typeface="Courier New" pitchFamily="34" charset="-120"/>
              </a:rPr>
              <a:t>0</a:t>
            </a:r>
            <a:endParaRPr lang="en-US" sz="3600" dirty="0"/>
          </a:p>
        </p:txBody>
      </p:sp>
      <p:sp>
        <p:nvSpPr>
          <p:cNvPr id="27" name="Text 25"/>
          <p:cNvSpPr txBox="1"/>
          <p:nvPr/>
        </p:nvSpPr>
        <p:spPr>
          <a:xfrm>
            <a:off x="9564624" y="5166360"/>
            <a:ext cx="2194560" cy="777240"/>
          </a:xfrm>
          <a:prstGeom prst="rect">
            <a:avLst/>
          </a:prstGeom>
          <a:noFill/>
          <a:ln/>
        </p:spPr>
        <p:txBody>
          <a:bodyPr wrap="square" lIns="0" tIns="0" rIns="0" bIns="0" rtlCol="0" anchor="ctr"/>
          <a:lstStyle/>
          <a:p>
            <a:pPr indent="0" marL="0">
              <a:lnSpc>
                <a:spcPts val="1500"/>
              </a:lnSpc>
              <a:buNone/>
            </a:pPr>
            <a:r>
              <a:rPr lang="en-US" sz="1200" dirty="0">
                <a:solidFill>
                  <a:srgbClr val="E8EEFF"/>
                </a:solidFill>
                <a:latin typeface="Calibri" pitchFamily="34" charset="0"/>
                <a:ea typeface="Calibri" pitchFamily="34" charset="-122"/>
                <a:cs typeface="Calibri" pitchFamily="34" charset="-120"/>
              </a:rPr>
              <a:t>prewritten lines in anything ECHO says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6364224" y="1197864"/>
            <a:ext cx="5285232" cy="3328416"/>
          </a:xfrm>
          <a:prstGeom prst="rect">
            <a:avLst/>
          </a:prstGeom>
          <a:solidFill>
            <a:srgbClr val="151B30"/>
          </a:solidFill>
          <a:ln w="12700">
            <a:solidFill>
              <a:srgbClr val="2A3556"/>
            </a:solidFill>
            <a:prstDash val="solid"/>
          </a:ln>
        </p:spPr>
      </p:sp>
      <p:pic>
        <p:nvPicPr>
          <p:cNvPr id="3" name="Image 0" descr="/home/claude/ghostwreck/test/shots/17_ending.png">    </p:cNvPr>
          <p:cNvPicPr>
            <a:picLocks noChangeAspect="1"/>
          </p:cNvPicPr>
          <p:nvPr/>
        </p:nvPicPr>
        <p:blipFill>
          <a:blip r:embed="rId1"/>
          <a:stretch>
            <a:fillRect/>
          </a:stretch>
        </p:blipFill>
        <p:spPr>
          <a:xfrm>
            <a:off x="6400800" y="1234440"/>
            <a:ext cx="5212080" cy="3255264"/>
          </a:xfrm>
          <a:prstGeom prst="rect">
            <a:avLst/>
          </a:prstGeom>
        </p:spPr>
      </p:pic>
      <p:sp>
        <p:nvSpPr>
          <p:cNvPr id="4" name="Text 1"/>
          <p:cNvSpPr txBox="1"/>
          <p:nvPr/>
        </p:nvSpPr>
        <p:spPr>
          <a:xfrm>
            <a:off x="640080" y="640080"/>
            <a:ext cx="4206240" cy="292608"/>
          </a:xfrm>
          <a:prstGeom prst="rect">
            <a:avLst/>
          </a:prstGeom>
          <a:noFill/>
          <a:ln/>
        </p:spPr>
        <p:txBody>
          <a:bodyPr wrap="square" lIns="0" tIns="0" rIns="0" bIns="0" rtlCol="0" anchor="ctr"/>
          <a:lstStyle/>
          <a:p>
            <a:pPr indent="0" marL="0">
              <a:buNone/>
            </a:pPr>
            <a:r>
              <a:rPr lang="en-US" sz="1200" spc="200" kern="0" dirty="0">
                <a:solidFill>
                  <a:srgbClr val="B98AFF"/>
                </a:solidFill>
                <a:latin typeface="Courier New" pitchFamily="34" charset="0"/>
                <a:ea typeface="Courier New" pitchFamily="34" charset="-122"/>
                <a:cs typeface="Courier New" pitchFamily="34" charset="-120"/>
              </a:rPr>
              <a:t>[ END OF WATCH ]</a:t>
            </a:r>
            <a:endParaRPr lang="en-US" sz="1200" dirty="0"/>
          </a:p>
        </p:txBody>
      </p:sp>
      <p:sp>
        <p:nvSpPr>
          <p:cNvPr id="5" name="Text 2"/>
          <p:cNvSpPr txBox="1"/>
          <p:nvPr/>
        </p:nvSpPr>
        <p:spPr>
          <a:xfrm>
            <a:off x="566928" y="1371600"/>
            <a:ext cx="5669280" cy="914400"/>
          </a:xfrm>
          <a:prstGeom prst="rect">
            <a:avLst/>
          </a:prstGeom>
          <a:noFill/>
          <a:ln/>
        </p:spPr>
        <p:txBody>
          <a:bodyPr wrap="square" lIns="0" tIns="0" rIns="0" bIns="0" rtlCol="0" anchor="ctr"/>
          <a:lstStyle/>
          <a:p>
            <a:pPr indent="0" marL="0">
              <a:buNone/>
            </a:pPr>
            <a:r>
              <a:rPr lang="en-US" sz="4200" b="1" dirty="0">
                <a:solidFill>
                  <a:srgbClr val="E8EEFF"/>
                </a:solidFill>
                <a:latin typeface="Courier New" pitchFamily="34" charset="0"/>
                <a:ea typeface="Courier New" pitchFamily="34" charset="-122"/>
                <a:cs typeface="Courier New" pitchFamily="34" charset="-120"/>
              </a:rPr>
              <a:t>Board the wreck.</a:t>
            </a:r>
            <a:endParaRPr lang="en-US" sz="4200" dirty="0"/>
          </a:p>
        </p:txBody>
      </p:sp>
      <p:sp>
        <p:nvSpPr>
          <p:cNvPr id="6" name="Text 3"/>
          <p:cNvSpPr txBox="1"/>
          <p:nvPr/>
        </p:nvSpPr>
        <p:spPr>
          <a:xfrm>
            <a:off x="640080" y="2468880"/>
            <a:ext cx="5394960" cy="365760"/>
          </a:xfrm>
          <a:prstGeom prst="rect">
            <a:avLst/>
          </a:prstGeom>
          <a:noFill/>
          <a:ln/>
        </p:spPr>
        <p:txBody>
          <a:bodyPr wrap="square" lIns="0" tIns="0" rIns="0" bIns="0" rtlCol="0" anchor="ctr"/>
          <a:lstStyle/>
          <a:p>
            <a:pPr indent="0" marL="0">
              <a:buNone/>
            </a:pPr>
            <a:r>
              <a:rPr lang="en-US" sz="1400" dirty="0">
                <a:solidFill>
                  <a:srgbClr val="8FA3C8"/>
                </a:solidFill>
                <a:latin typeface="Calibri" pitchFamily="34" charset="0"/>
                <a:ea typeface="Calibri" pitchFamily="34" charset="-122"/>
                <a:cs typeface="Calibri" pitchFamily="34" charset="-120"/>
              </a:rPr>
              <a:t>The game is live, private until shared, and plays in any browser:</a:t>
            </a:r>
            <a:endParaRPr lang="en-US" sz="1400" dirty="0"/>
          </a:p>
        </p:txBody>
      </p:sp>
      <p:sp>
        <p:nvSpPr>
          <p:cNvPr id="7" name="Shape 4"/>
          <p:cNvSpPr/>
          <p:nvPr/>
        </p:nvSpPr>
        <p:spPr>
          <a:xfrm>
            <a:off x="640080" y="2926080"/>
            <a:ext cx="5394960" cy="685800"/>
          </a:xfrm>
          <a:prstGeom prst="roundRect">
            <a:avLst>
              <a:gd name="adj" fmla="val 10667"/>
            </a:avLst>
          </a:prstGeom>
          <a:solidFill>
            <a:srgbClr val="101526"/>
          </a:solidFill>
          <a:ln w="12700">
            <a:solidFill>
              <a:srgbClr val="7CFFBE"/>
            </a:solidFill>
            <a:prstDash val="solid"/>
          </a:ln>
        </p:spPr>
      </p:sp>
      <p:sp>
        <p:nvSpPr>
          <p:cNvPr id="8" name="Text 5"/>
          <p:cNvSpPr txBox="1"/>
          <p:nvPr/>
        </p:nvSpPr>
        <p:spPr>
          <a:xfrm>
            <a:off x="868680" y="3090672"/>
            <a:ext cx="5029200" cy="365760"/>
          </a:xfrm>
          <a:prstGeom prst="rect">
            <a:avLst/>
          </a:prstGeom>
          <a:noFill/>
          <a:ln/>
        </p:spPr>
        <p:txBody>
          <a:bodyPr wrap="square" lIns="0" tIns="0" rIns="0" bIns="0" rtlCol="0" anchor="ctr"/>
          <a:lstStyle/>
          <a:p>
            <a:pPr indent="0" marL="0">
              <a:buNone/>
            </a:pPr>
            <a:r>
              <a:rPr lang="en-US" sz="1050" dirty="0">
                <a:solidFill>
                  <a:srgbClr val="7CFFBE"/>
                </a:solidFill>
                <a:latin typeface="Courier New" pitchFamily="34" charset="0"/>
                <a:ea typeface="Courier New" pitchFamily="34" charset="-122"/>
                <a:cs typeface="Courier New" pitchFamily="34" charset="-120"/>
              </a:rPr>
              <a:t>claude.ai/code/artifact/2c7295e4-2a2a-4812-8a8c-e0ac845351ce</a:t>
            </a:r>
            <a:endParaRPr lang="en-US" sz="1050" dirty="0"/>
          </a:p>
        </p:txBody>
      </p:sp>
      <p:sp>
        <p:nvSpPr>
          <p:cNvPr id="9" name="Text 6"/>
          <p:cNvSpPr txBox="1"/>
          <p:nvPr/>
        </p:nvSpPr>
        <p:spPr>
          <a:xfrm>
            <a:off x="640080" y="3977640"/>
            <a:ext cx="5394960" cy="1737360"/>
          </a:xfrm>
          <a:prstGeom prst="rect">
            <a:avLst/>
          </a:prstGeom>
          <a:noFill/>
          <a:ln/>
        </p:spPr>
        <p:txBody>
          <a:bodyPr wrap="square" lIns="0" tIns="0" rIns="0" bIns="0" rtlCol="0" anchor="ctr"/>
          <a:lstStyle/>
          <a:p>
            <a:pPr indent="0" marL="0">
              <a:lnSpc>
                <a:spcPts val="2100"/>
              </a:lnSpc>
              <a:buNone/>
            </a:pPr>
            <a:r>
              <a:rPr lang="en-US" sz="1500" dirty="0">
                <a:solidFill>
                  <a:srgbClr val="E8EEFF"/>
                </a:solidFill>
                <a:latin typeface="Calibri" pitchFamily="34" charset="0"/>
                <a:ea typeface="Calibri" pitchFamily="34" charset="-122"/>
                <a:cs typeface="Calibri" pitchFamily="34" charset="-120"/>
              </a:rPr>
              <a:t>Every playthrough is a conversation no one has ever had before, with a mind that fits in your pocket and grieves in the dark.</a:t>
            </a:r>
            <a:endParaRPr lang="en-US" sz="1500" dirty="0"/>
          </a:p>
          <a:p>
            <a:pPr indent="0" marL="0">
              <a:lnSpc>
                <a:spcPts val="2100"/>
              </a:lnSpc>
              <a:buNone/>
            </a:pPr>
            <a:endParaRPr lang="en-US" sz="1500" dirty="0"/>
          </a:p>
          <a:p>
            <a:pPr indent="0" marL="0">
              <a:lnSpc>
                <a:spcPts val="2100"/>
              </a:lnSpc>
              <a:buNone/>
            </a:pPr>
            <a:r>
              <a:rPr lang="en-US" sz="1500" dirty="0">
                <a:solidFill>
                  <a:srgbClr val="E8EEFF"/>
                </a:solidFill>
                <a:latin typeface="Calibri" pitchFamily="34" charset="0"/>
                <a:ea typeface="Calibri" pitchFamily="34" charset="-122"/>
                <a:cs typeface="Calibri" pitchFamily="34" charset="-120"/>
              </a:rPr>
              <a:t>Speak kindly to it.</a:t>
            </a:r>
            <a:endParaRPr lang="en-US" sz="1500" dirty="0"/>
          </a:p>
        </p:txBody>
      </p:sp>
      <p:sp>
        <p:nvSpPr>
          <p:cNvPr id="10" name="Text 7"/>
          <p:cNvSpPr txBox="1"/>
          <p:nvPr/>
        </p:nvSpPr>
        <p:spPr>
          <a:xfrm>
            <a:off x="640080" y="6126480"/>
            <a:ext cx="10881360" cy="365760"/>
          </a:xfrm>
          <a:prstGeom prst="rect">
            <a:avLst/>
          </a:prstGeom>
          <a:noFill/>
          <a:ln/>
        </p:spPr>
        <p:txBody>
          <a:bodyPr wrap="square" lIns="0" tIns="0" rIns="0" bIns="0" rtlCol="0" anchor="ctr"/>
          <a:lstStyle/>
          <a:p>
            <a:pPr indent="0" marL="0">
              <a:buNone/>
            </a:pPr>
            <a:r>
              <a:rPr lang="en-US" sz="1100" dirty="0">
                <a:solidFill>
                  <a:srgbClr val="8FA3C8"/>
                </a:solidFill>
                <a:latin typeface="Calibri" pitchFamily="34" charset="0"/>
                <a:ea typeface="Calibri" pitchFamily="34" charset="-122"/>
                <a:cs typeface="Calibri" pitchFamily="34" charset="-120"/>
              </a:rPr>
              <a:t>Also available as a single downloadable file for self-hosting  ·  technical spec and agent playbook accompany this deck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2026-08-28T09:58:06Z</dcterms:created>
  <dcterms:modified xsi:type="dcterms:W3CDTF">2026-08-28T09:58:06Z</dcterms:modified>
</cp:coreProperties>
</file>